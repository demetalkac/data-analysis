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2"/>
  </p:notesMasterIdLst>
  <p:sldIdLst>
    <p:sldId id="272" r:id="rId2"/>
    <p:sldId id="271" r:id="rId3"/>
    <p:sldId id="275" r:id="rId4"/>
    <p:sldId id="303" r:id="rId5"/>
    <p:sldId id="304" r:id="rId6"/>
    <p:sldId id="280" r:id="rId7"/>
    <p:sldId id="285" r:id="rId8"/>
    <p:sldId id="287" r:id="rId9"/>
    <p:sldId id="289" r:id="rId10"/>
    <p:sldId id="290" r:id="rId11"/>
    <p:sldId id="292" r:id="rId12"/>
    <p:sldId id="293" r:id="rId13"/>
    <p:sldId id="294" r:id="rId14"/>
    <p:sldId id="295" r:id="rId15"/>
    <p:sldId id="296" r:id="rId16"/>
    <p:sldId id="297" r:id="rId17"/>
    <p:sldId id="298" r:id="rId18"/>
    <p:sldId id="299" r:id="rId19"/>
    <p:sldId id="302" r:id="rId20"/>
    <p:sldId id="270"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33A47"/>
    <a:srgbClr val="F4DB78"/>
    <a:srgbClr val="FFFCF7"/>
    <a:srgbClr val="FF66FF"/>
    <a:srgbClr val="0000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EDBBBF-9A99-4811-9144-C8B28D3D2A25}" type="datetimeFigureOut">
              <a:rPr lang="tr-TR" smtClean="0"/>
              <a:t>13.01.2024</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4A820D-CA15-41C8-BD33-C195DD0C559A}" type="slidenum">
              <a:rPr lang="tr-TR" smtClean="0"/>
              <a:t>‹#›</a:t>
            </a:fld>
            <a:endParaRPr lang="tr-TR"/>
          </a:p>
        </p:txBody>
      </p:sp>
    </p:spTree>
    <p:extLst>
      <p:ext uri="{BB962C8B-B14F-4D97-AF65-F5344CB8AC3E}">
        <p14:creationId xmlns:p14="http://schemas.microsoft.com/office/powerpoint/2010/main" val="2186393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pPr marL="0" marR="0" lvl="0" indent="0" algn="l" defTabSz="914400" rtl="0" eaLnBrk="1" fontAlgn="auto" latinLnBrk="0" hangingPunct="1">
              <a:lnSpc>
                <a:spcPct val="100000"/>
              </a:lnSpc>
              <a:spcBef>
                <a:spcPts val="0"/>
              </a:spcBef>
              <a:spcAft>
                <a:spcPts val="0"/>
              </a:spcAft>
              <a:buClrTx/>
              <a:buSzTx/>
              <a:buFontTx/>
              <a:buNone/>
              <a:tabLst/>
              <a:defRPr/>
            </a:pPr>
            <a:r>
              <a:rPr lang="tr-TR" b="0" i="0" dirty="0">
                <a:solidFill>
                  <a:srgbClr val="374151"/>
                </a:solidFill>
                <a:effectLst/>
                <a:latin typeface="Söhne"/>
              </a:rPr>
              <a:t>Antik Yunan dünyasında spor ve etkinliklerle ilgili yazılı kaynakların oluşmasına katkıda bulunmuştur. </a:t>
            </a:r>
            <a:endParaRPr lang="tr-TR" dirty="0"/>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2</a:t>
            </a:fld>
            <a:endParaRPr lang="tr-TR"/>
          </a:p>
        </p:txBody>
      </p:sp>
    </p:spTree>
    <p:extLst>
      <p:ext uri="{BB962C8B-B14F-4D97-AF65-F5344CB8AC3E}">
        <p14:creationId xmlns:p14="http://schemas.microsoft.com/office/powerpoint/2010/main" val="1112278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3</a:t>
            </a:fld>
            <a:endParaRPr lang="tr-TR"/>
          </a:p>
        </p:txBody>
      </p:sp>
    </p:spTree>
    <p:extLst>
      <p:ext uri="{BB962C8B-B14F-4D97-AF65-F5344CB8AC3E}">
        <p14:creationId xmlns:p14="http://schemas.microsoft.com/office/powerpoint/2010/main" val="2507742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4</a:t>
            </a:fld>
            <a:endParaRPr lang="tr-TR"/>
          </a:p>
        </p:txBody>
      </p:sp>
    </p:spTree>
    <p:extLst>
      <p:ext uri="{BB962C8B-B14F-4D97-AF65-F5344CB8AC3E}">
        <p14:creationId xmlns:p14="http://schemas.microsoft.com/office/powerpoint/2010/main" val="1110568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5</a:t>
            </a:fld>
            <a:endParaRPr lang="tr-TR"/>
          </a:p>
        </p:txBody>
      </p:sp>
    </p:spTree>
    <p:extLst>
      <p:ext uri="{BB962C8B-B14F-4D97-AF65-F5344CB8AC3E}">
        <p14:creationId xmlns:p14="http://schemas.microsoft.com/office/powerpoint/2010/main" val="2305960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6</a:t>
            </a:fld>
            <a:endParaRPr lang="tr-TR"/>
          </a:p>
        </p:txBody>
      </p:sp>
    </p:spTree>
    <p:extLst>
      <p:ext uri="{BB962C8B-B14F-4D97-AF65-F5344CB8AC3E}">
        <p14:creationId xmlns:p14="http://schemas.microsoft.com/office/powerpoint/2010/main" val="2710744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7</a:t>
            </a:fld>
            <a:endParaRPr lang="tr-TR"/>
          </a:p>
        </p:txBody>
      </p:sp>
    </p:spTree>
    <p:extLst>
      <p:ext uri="{BB962C8B-B14F-4D97-AF65-F5344CB8AC3E}">
        <p14:creationId xmlns:p14="http://schemas.microsoft.com/office/powerpoint/2010/main" val="908995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8</a:t>
            </a:fld>
            <a:endParaRPr lang="tr-TR"/>
          </a:p>
        </p:txBody>
      </p:sp>
    </p:spTree>
    <p:extLst>
      <p:ext uri="{BB962C8B-B14F-4D97-AF65-F5344CB8AC3E}">
        <p14:creationId xmlns:p14="http://schemas.microsoft.com/office/powerpoint/2010/main" val="1073805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9</a:t>
            </a:fld>
            <a:endParaRPr lang="tr-TR"/>
          </a:p>
        </p:txBody>
      </p:sp>
    </p:spTree>
    <p:extLst>
      <p:ext uri="{BB962C8B-B14F-4D97-AF65-F5344CB8AC3E}">
        <p14:creationId xmlns:p14="http://schemas.microsoft.com/office/powerpoint/2010/main" val="3843862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10</a:t>
            </a:fld>
            <a:endParaRPr lang="tr-TR"/>
          </a:p>
        </p:txBody>
      </p:sp>
    </p:spTree>
    <p:extLst>
      <p:ext uri="{BB962C8B-B14F-4D97-AF65-F5344CB8AC3E}">
        <p14:creationId xmlns:p14="http://schemas.microsoft.com/office/powerpoint/2010/main" val="1297404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11</a:t>
            </a:fld>
            <a:endParaRPr lang="tr-TR"/>
          </a:p>
        </p:txBody>
      </p:sp>
    </p:spTree>
    <p:extLst>
      <p:ext uri="{BB962C8B-B14F-4D97-AF65-F5344CB8AC3E}">
        <p14:creationId xmlns:p14="http://schemas.microsoft.com/office/powerpoint/2010/main" val="1949663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12</a:t>
            </a:fld>
            <a:endParaRPr lang="tr-TR"/>
          </a:p>
        </p:txBody>
      </p:sp>
    </p:spTree>
    <p:extLst>
      <p:ext uri="{BB962C8B-B14F-4D97-AF65-F5344CB8AC3E}">
        <p14:creationId xmlns:p14="http://schemas.microsoft.com/office/powerpoint/2010/main" val="3202481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13</a:t>
            </a:fld>
            <a:endParaRPr lang="tr-TR"/>
          </a:p>
        </p:txBody>
      </p:sp>
    </p:spTree>
    <p:extLst>
      <p:ext uri="{BB962C8B-B14F-4D97-AF65-F5344CB8AC3E}">
        <p14:creationId xmlns:p14="http://schemas.microsoft.com/office/powerpoint/2010/main" val="171433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14</a:t>
            </a:fld>
            <a:endParaRPr lang="tr-TR"/>
          </a:p>
        </p:txBody>
      </p:sp>
    </p:spTree>
    <p:extLst>
      <p:ext uri="{BB962C8B-B14F-4D97-AF65-F5344CB8AC3E}">
        <p14:creationId xmlns:p14="http://schemas.microsoft.com/office/powerpoint/2010/main" val="3874734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15</a:t>
            </a:fld>
            <a:endParaRPr lang="tr-TR"/>
          </a:p>
        </p:txBody>
      </p:sp>
    </p:spTree>
    <p:extLst>
      <p:ext uri="{BB962C8B-B14F-4D97-AF65-F5344CB8AC3E}">
        <p14:creationId xmlns:p14="http://schemas.microsoft.com/office/powerpoint/2010/main" val="40939197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16</a:t>
            </a:fld>
            <a:endParaRPr lang="tr-TR"/>
          </a:p>
        </p:txBody>
      </p:sp>
    </p:spTree>
    <p:extLst>
      <p:ext uri="{BB962C8B-B14F-4D97-AF65-F5344CB8AC3E}">
        <p14:creationId xmlns:p14="http://schemas.microsoft.com/office/powerpoint/2010/main" val="2092696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17</a:t>
            </a:fld>
            <a:endParaRPr lang="tr-TR"/>
          </a:p>
        </p:txBody>
      </p:sp>
    </p:spTree>
    <p:extLst>
      <p:ext uri="{BB962C8B-B14F-4D97-AF65-F5344CB8AC3E}">
        <p14:creationId xmlns:p14="http://schemas.microsoft.com/office/powerpoint/2010/main" val="3316082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İlk insanlara baktığımızda avcılık ve hayvancılıkla yaşamlarını </a:t>
            </a:r>
            <a:r>
              <a:rPr lang="tr-TR" dirty="0" err="1"/>
              <a:t>sürdürüyolar</a:t>
            </a:r>
            <a:r>
              <a:rPr lang="tr-TR" dirty="0"/>
              <a:t> ve burada farklı becerilerin önemi var. Boşta kalan </a:t>
            </a:r>
            <a:r>
              <a:rPr lang="tr-TR" dirty="0" err="1"/>
              <a:t>zamanlarındada</a:t>
            </a:r>
            <a:r>
              <a:rPr lang="tr-TR" dirty="0"/>
              <a:t> sporsal faaliyetlerle ilgileniyorlar</a:t>
            </a:r>
          </a:p>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18</a:t>
            </a:fld>
            <a:endParaRPr lang="tr-TR"/>
          </a:p>
        </p:txBody>
      </p:sp>
    </p:spTree>
    <p:extLst>
      <p:ext uri="{BB962C8B-B14F-4D97-AF65-F5344CB8AC3E}">
        <p14:creationId xmlns:p14="http://schemas.microsoft.com/office/powerpoint/2010/main" val="29772659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dirty="0"/>
          </a:p>
        </p:txBody>
      </p:sp>
      <p:sp>
        <p:nvSpPr>
          <p:cNvPr id="4" name="Slide Number Placeholder 3"/>
          <p:cNvSpPr>
            <a:spLocks noGrp="1"/>
          </p:cNvSpPr>
          <p:nvPr>
            <p:ph type="sldNum" sz="quarter" idx="5"/>
          </p:nvPr>
        </p:nvSpPr>
        <p:spPr/>
        <p:txBody>
          <a:bodyPr/>
          <a:lstStyle/>
          <a:p>
            <a:fld id="{9A4A820D-CA15-41C8-BD33-C195DD0C559A}" type="slidenum">
              <a:rPr lang="tr-TR" smtClean="0"/>
              <a:t>19</a:t>
            </a:fld>
            <a:endParaRPr lang="tr-TR"/>
          </a:p>
        </p:txBody>
      </p:sp>
    </p:spTree>
    <p:extLst>
      <p:ext uri="{BB962C8B-B14F-4D97-AF65-F5344CB8AC3E}">
        <p14:creationId xmlns:p14="http://schemas.microsoft.com/office/powerpoint/2010/main" val="1910297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867C-0032-88DD-39D0-1219890844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tr-TR"/>
          </a:p>
        </p:txBody>
      </p:sp>
      <p:sp>
        <p:nvSpPr>
          <p:cNvPr id="3" name="Subtitle 2">
            <a:extLst>
              <a:ext uri="{FF2B5EF4-FFF2-40B4-BE49-F238E27FC236}">
                <a16:creationId xmlns:a16="http://schemas.microsoft.com/office/drawing/2014/main" id="{50236A1C-675B-6507-5DD2-2DDA2C551B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tr-TR"/>
          </a:p>
        </p:txBody>
      </p:sp>
      <p:sp>
        <p:nvSpPr>
          <p:cNvPr id="4" name="Date Placeholder 3">
            <a:extLst>
              <a:ext uri="{FF2B5EF4-FFF2-40B4-BE49-F238E27FC236}">
                <a16:creationId xmlns:a16="http://schemas.microsoft.com/office/drawing/2014/main" id="{A3D3BDF5-2FD4-D0CE-58A8-9C9BDCCEDD84}"/>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5" name="Footer Placeholder 4">
            <a:extLst>
              <a:ext uri="{FF2B5EF4-FFF2-40B4-BE49-F238E27FC236}">
                <a16:creationId xmlns:a16="http://schemas.microsoft.com/office/drawing/2014/main" id="{34FAC49C-F480-925C-0320-3E9452A4AE44}"/>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EF405466-E6C1-DB3C-1EA4-EF8D1C7545D7}"/>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636265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5032-03BE-9600-B7B5-AE4DDC859213}"/>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3C52A0B6-EF8D-0F9C-2ADF-4F8FB25F42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5EF58FF5-69C8-32E8-C44C-E7D00F4A411A}"/>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5" name="Footer Placeholder 4">
            <a:extLst>
              <a:ext uri="{FF2B5EF4-FFF2-40B4-BE49-F238E27FC236}">
                <a16:creationId xmlns:a16="http://schemas.microsoft.com/office/drawing/2014/main" id="{B57C0478-0F9D-424A-7126-7542606496F7}"/>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94AD78C4-959B-6160-A6DA-874B1BAB88C2}"/>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682349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098F1-3F8F-97DC-F647-7B3529D0A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tr-TR"/>
          </a:p>
        </p:txBody>
      </p:sp>
      <p:sp>
        <p:nvSpPr>
          <p:cNvPr id="3" name="Text Placeholder 2">
            <a:extLst>
              <a:ext uri="{FF2B5EF4-FFF2-40B4-BE49-F238E27FC236}">
                <a16:creationId xmlns:a16="http://schemas.microsoft.com/office/drawing/2014/main" id="{AB6D4B3B-8509-8F40-CD05-C3ED9990C0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8219D3-194D-1443-52E8-34D73EC722DE}"/>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5" name="Footer Placeholder 4">
            <a:extLst>
              <a:ext uri="{FF2B5EF4-FFF2-40B4-BE49-F238E27FC236}">
                <a16:creationId xmlns:a16="http://schemas.microsoft.com/office/drawing/2014/main" id="{7B091B90-DBED-C377-A629-6CCA7C865CBF}"/>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A873517D-E0D8-0BF7-E1DC-46096BD7E10F}"/>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8732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4C402-8A43-1190-A4DE-19A5A25B3DF2}"/>
              </a:ext>
            </a:extLst>
          </p:cNvPr>
          <p:cNvSpPr>
            <a:spLocks noGrp="1"/>
          </p:cNvSpPr>
          <p:nvPr>
            <p:ph type="title"/>
          </p:nvPr>
        </p:nvSpPr>
        <p:spPr/>
        <p:txBody>
          <a:bodyPr/>
          <a:lstStyle/>
          <a:p>
            <a:r>
              <a:rPr lang="en-US"/>
              <a:t>Click to edit Master title style</a:t>
            </a:r>
            <a:endParaRPr lang="tr-TR"/>
          </a:p>
        </p:txBody>
      </p:sp>
      <p:sp>
        <p:nvSpPr>
          <p:cNvPr id="3" name="Content Placeholder 2">
            <a:extLst>
              <a:ext uri="{FF2B5EF4-FFF2-40B4-BE49-F238E27FC236}">
                <a16:creationId xmlns:a16="http://schemas.microsoft.com/office/drawing/2014/main" id="{B67B383B-DC1E-0061-5C51-BD268492E4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a:extLst>
              <a:ext uri="{FF2B5EF4-FFF2-40B4-BE49-F238E27FC236}">
                <a16:creationId xmlns:a16="http://schemas.microsoft.com/office/drawing/2014/main" id="{94CBA1A5-2473-A7FC-0E3A-7605E07B0E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a:extLst>
              <a:ext uri="{FF2B5EF4-FFF2-40B4-BE49-F238E27FC236}">
                <a16:creationId xmlns:a16="http://schemas.microsoft.com/office/drawing/2014/main" id="{6794FCE1-EC79-CE17-E642-33FEC852B2B2}"/>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6" name="Footer Placeholder 5">
            <a:extLst>
              <a:ext uri="{FF2B5EF4-FFF2-40B4-BE49-F238E27FC236}">
                <a16:creationId xmlns:a16="http://schemas.microsoft.com/office/drawing/2014/main" id="{DBAB2207-5F0C-5128-571E-4D365FAF6DCE}"/>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048EC3A6-0E12-DA7B-765B-A46FD0225CD1}"/>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3786983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2A10-471B-3C99-55E6-CC1FB1329E39}"/>
              </a:ext>
            </a:extLst>
          </p:cNvPr>
          <p:cNvSpPr>
            <a:spLocks noGrp="1"/>
          </p:cNvSpPr>
          <p:nvPr>
            <p:ph type="title"/>
          </p:nvPr>
        </p:nvSpPr>
        <p:spPr>
          <a:xfrm>
            <a:off x="839788" y="365125"/>
            <a:ext cx="10515600" cy="1325563"/>
          </a:xfrm>
        </p:spPr>
        <p:txBody>
          <a:bodyPr/>
          <a:lstStyle/>
          <a:p>
            <a:r>
              <a:rPr lang="en-US"/>
              <a:t>Click to edit Master title style</a:t>
            </a:r>
            <a:endParaRPr lang="tr-TR"/>
          </a:p>
        </p:txBody>
      </p:sp>
      <p:sp>
        <p:nvSpPr>
          <p:cNvPr id="3" name="Text Placeholder 2">
            <a:extLst>
              <a:ext uri="{FF2B5EF4-FFF2-40B4-BE49-F238E27FC236}">
                <a16:creationId xmlns:a16="http://schemas.microsoft.com/office/drawing/2014/main" id="{463B967A-EB79-945E-90C7-CC1E3A13A2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967E0B-C045-2E66-23F1-91557CC0E6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a:extLst>
              <a:ext uri="{FF2B5EF4-FFF2-40B4-BE49-F238E27FC236}">
                <a16:creationId xmlns:a16="http://schemas.microsoft.com/office/drawing/2014/main" id="{62700184-541F-198B-D14D-F799487052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0094EA-738E-B924-4DF2-D03D47B693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a:extLst>
              <a:ext uri="{FF2B5EF4-FFF2-40B4-BE49-F238E27FC236}">
                <a16:creationId xmlns:a16="http://schemas.microsoft.com/office/drawing/2014/main" id="{09F68B59-538B-0D19-2001-D2E632408D67}"/>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8" name="Footer Placeholder 7">
            <a:extLst>
              <a:ext uri="{FF2B5EF4-FFF2-40B4-BE49-F238E27FC236}">
                <a16:creationId xmlns:a16="http://schemas.microsoft.com/office/drawing/2014/main" id="{A4794F6B-9421-9A92-228A-C45B24C9738B}"/>
              </a:ext>
            </a:extLst>
          </p:cNvPr>
          <p:cNvSpPr>
            <a:spLocks noGrp="1"/>
          </p:cNvSpPr>
          <p:nvPr>
            <p:ph type="ftr" sz="quarter" idx="11"/>
          </p:nvPr>
        </p:nvSpPr>
        <p:spPr/>
        <p:txBody>
          <a:bodyPr/>
          <a:lstStyle/>
          <a:p>
            <a:endParaRPr lang="tr-TR"/>
          </a:p>
        </p:txBody>
      </p:sp>
      <p:sp>
        <p:nvSpPr>
          <p:cNvPr id="9" name="Slide Number Placeholder 8">
            <a:extLst>
              <a:ext uri="{FF2B5EF4-FFF2-40B4-BE49-F238E27FC236}">
                <a16:creationId xmlns:a16="http://schemas.microsoft.com/office/drawing/2014/main" id="{1E178D83-D6C3-A4EC-3A35-333B98759631}"/>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2431690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6F1B-7192-BD51-B60E-FE6821AE802E}"/>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9D5B9548-E7D8-421B-3393-54CB7A415CF3}"/>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4" name="Footer Placeholder 3">
            <a:extLst>
              <a:ext uri="{FF2B5EF4-FFF2-40B4-BE49-F238E27FC236}">
                <a16:creationId xmlns:a16="http://schemas.microsoft.com/office/drawing/2014/main" id="{CA653101-C725-4DBA-5D77-72546FBE1B3A}"/>
              </a:ext>
            </a:extLst>
          </p:cNvPr>
          <p:cNvSpPr>
            <a:spLocks noGrp="1"/>
          </p:cNvSpPr>
          <p:nvPr>
            <p:ph type="ftr" sz="quarter" idx="11"/>
          </p:nvPr>
        </p:nvSpPr>
        <p:spPr/>
        <p:txBody>
          <a:bodyPr/>
          <a:lstStyle/>
          <a:p>
            <a:endParaRPr lang="tr-TR"/>
          </a:p>
        </p:txBody>
      </p:sp>
      <p:sp>
        <p:nvSpPr>
          <p:cNvPr id="5" name="Slide Number Placeholder 4">
            <a:extLst>
              <a:ext uri="{FF2B5EF4-FFF2-40B4-BE49-F238E27FC236}">
                <a16:creationId xmlns:a16="http://schemas.microsoft.com/office/drawing/2014/main" id="{70C78459-7252-29A7-DADD-BA0D8548A79D}"/>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50849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0AA3C6-FAF0-884E-B3AC-E12D9F90FEA9}"/>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3" name="Footer Placeholder 2">
            <a:extLst>
              <a:ext uri="{FF2B5EF4-FFF2-40B4-BE49-F238E27FC236}">
                <a16:creationId xmlns:a16="http://schemas.microsoft.com/office/drawing/2014/main" id="{A36D6B05-5282-194B-E49E-D583E3537959}"/>
              </a:ext>
            </a:extLst>
          </p:cNvPr>
          <p:cNvSpPr>
            <a:spLocks noGrp="1"/>
          </p:cNvSpPr>
          <p:nvPr>
            <p:ph type="ftr" sz="quarter" idx="11"/>
          </p:nvPr>
        </p:nvSpPr>
        <p:spPr/>
        <p:txBody>
          <a:bodyPr/>
          <a:lstStyle/>
          <a:p>
            <a:endParaRPr lang="tr-TR"/>
          </a:p>
        </p:txBody>
      </p:sp>
      <p:sp>
        <p:nvSpPr>
          <p:cNvPr id="4" name="Slide Number Placeholder 3">
            <a:extLst>
              <a:ext uri="{FF2B5EF4-FFF2-40B4-BE49-F238E27FC236}">
                <a16:creationId xmlns:a16="http://schemas.microsoft.com/office/drawing/2014/main" id="{AAB32C55-F9C3-E7A2-4AF7-84BB9250A16C}"/>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3254768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487B-74B3-20B9-325A-BD7F40E79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Content Placeholder 2">
            <a:extLst>
              <a:ext uri="{FF2B5EF4-FFF2-40B4-BE49-F238E27FC236}">
                <a16:creationId xmlns:a16="http://schemas.microsoft.com/office/drawing/2014/main" id="{60B7B455-45AB-A4ED-45A9-DB143D0B56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a:extLst>
              <a:ext uri="{FF2B5EF4-FFF2-40B4-BE49-F238E27FC236}">
                <a16:creationId xmlns:a16="http://schemas.microsoft.com/office/drawing/2014/main" id="{22C1A670-8065-6B26-7238-2A9F4E1EE5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ED8EE3-515D-7AB6-3432-AAE1CD768F18}"/>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6" name="Footer Placeholder 5">
            <a:extLst>
              <a:ext uri="{FF2B5EF4-FFF2-40B4-BE49-F238E27FC236}">
                <a16:creationId xmlns:a16="http://schemas.microsoft.com/office/drawing/2014/main" id="{2BC946D1-DD2A-F194-B9AF-439C7183BC5C}"/>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4E6D1C56-F74E-ACBE-0AC2-2E8BB6DAA2F3}"/>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423865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2F372-565B-3DCC-C33A-2BC6CE0A6F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tr-TR"/>
          </a:p>
        </p:txBody>
      </p:sp>
      <p:sp>
        <p:nvSpPr>
          <p:cNvPr id="3" name="Picture Placeholder 2">
            <a:extLst>
              <a:ext uri="{FF2B5EF4-FFF2-40B4-BE49-F238E27FC236}">
                <a16:creationId xmlns:a16="http://schemas.microsoft.com/office/drawing/2014/main" id="{5D7FBA78-58B1-6597-FF9F-5D4E6F8AAB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a:extLst>
              <a:ext uri="{FF2B5EF4-FFF2-40B4-BE49-F238E27FC236}">
                <a16:creationId xmlns:a16="http://schemas.microsoft.com/office/drawing/2014/main" id="{B268118C-927F-6FA7-BD24-3F3BE1942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4EF18E-5596-531E-1CE0-E79E15D1BF76}"/>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6" name="Footer Placeholder 5">
            <a:extLst>
              <a:ext uri="{FF2B5EF4-FFF2-40B4-BE49-F238E27FC236}">
                <a16:creationId xmlns:a16="http://schemas.microsoft.com/office/drawing/2014/main" id="{CC46DDA6-98AC-2E4A-38A0-B47687D08203}"/>
              </a:ext>
            </a:extLst>
          </p:cNvPr>
          <p:cNvSpPr>
            <a:spLocks noGrp="1"/>
          </p:cNvSpPr>
          <p:nvPr>
            <p:ph type="ftr" sz="quarter" idx="11"/>
          </p:nvPr>
        </p:nvSpPr>
        <p:spPr/>
        <p:txBody>
          <a:bodyPr/>
          <a:lstStyle/>
          <a:p>
            <a:endParaRPr lang="tr-TR"/>
          </a:p>
        </p:txBody>
      </p:sp>
      <p:sp>
        <p:nvSpPr>
          <p:cNvPr id="7" name="Slide Number Placeholder 6">
            <a:extLst>
              <a:ext uri="{FF2B5EF4-FFF2-40B4-BE49-F238E27FC236}">
                <a16:creationId xmlns:a16="http://schemas.microsoft.com/office/drawing/2014/main" id="{28C50B3E-0A69-6D7D-4413-73A3DA1E1BAC}"/>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910453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83015-4221-2131-1678-8B4A54CE0ABF}"/>
              </a:ext>
            </a:extLst>
          </p:cNvPr>
          <p:cNvSpPr>
            <a:spLocks noGrp="1"/>
          </p:cNvSpPr>
          <p:nvPr>
            <p:ph type="title"/>
          </p:nvPr>
        </p:nvSpPr>
        <p:spPr/>
        <p:txBody>
          <a:bodyPr/>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8301978D-10B5-9667-0E26-950BA0C803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2F2FC747-3BCF-D9DC-34CC-C4982440BB51}"/>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5" name="Footer Placeholder 4">
            <a:extLst>
              <a:ext uri="{FF2B5EF4-FFF2-40B4-BE49-F238E27FC236}">
                <a16:creationId xmlns:a16="http://schemas.microsoft.com/office/drawing/2014/main" id="{7EF550A4-61E2-DAB2-29AD-23C01AF306C7}"/>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5BE751B9-CDF8-F011-0ECF-B2A61E530A02}"/>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1789110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C3FF2A-3CB0-862F-B60C-9966C628A0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tr-TR"/>
          </a:p>
        </p:txBody>
      </p:sp>
      <p:sp>
        <p:nvSpPr>
          <p:cNvPr id="3" name="Vertical Text Placeholder 2">
            <a:extLst>
              <a:ext uri="{FF2B5EF4-FFF2-40B4-BE49-F238E27FC236}">
                <a16:creationId xmlns:a16="http://schemas.microsoft.com/office/drawing/2014/main" id="{B112886B-E150-D5AE-4A19-0CCF5ABC94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76525871-7505-E174-D5C0-938F911E03B3}"/>
              </a:ext>
            </a:extLst>
          </p:cNvPr>
          <p:cNvSpPr>
            <a:spLocks noGrp="1"/>
          </p:cNvSpPr>
          <p:nvPr>
            <p:ph type="dt" sz="half" idx="10"/>
          </p:nvPr>
        </p:nvSpPr>
        <p:spPr/>
        <p:txBody>
          <a:bodyPr/>
          <a:lstStyle/>
          <a:p>
            <a:fld id="{E969F566-843A-4686-A592-7968AE8E56C0}" type="datetimeFigureOut">
              <a:rPr lang="tr-TR" smtClean="0"/>
              <a:t>13.01.2024</a:t>
            </a:fld>
            <a:endParaRPr lang="tr-TR"/>
          </a:p>
        </p:txBody>
      </p:sp>
      <p:sp>
        <p:nvSpPr>
          <p:cNvPr id="5" name="Footer Placeholder 4">
            <a:extLst>
              <a:ext uri="{FF2B5EF4-FFF2-40B4-BE49-F238E27FC236}">
                <a16:creationId xmlns:a16="http://schemas.microsoft.com/office/drawing/2014/main" id="{D7F3D62C-314D-BA09-EFDB-2CF6D621BB51}"/>
              </a:ext>
            </a:extLst>
          </p:cNvPr>
          <p:cNvSpPr>
            <a:spLocks noGrp="1"/>
          </p:cNvSpPr>
          <p:nvPr>
            <p:ph type="ftr" sz="quarter" idx="11"/>
          </p:nvPr>
        </p:nvSpPr>
        <p:spPr/>
        <p:txBody>
          <a:bodyPr/>
          <a:lstStyle/>
          <a:p>
            <a:endParaRPr lang="tr-TR"/>
          </a:p>
        </p:txBody>
      </p:sp>
      <p:sp>
        <p:nvSpPr>
          <p:cNvPr id="6" name="Slide Number Placeholder 5">
            <a:extLst>
              <a:ext uri="{FF2B5EF4-FFF2-40B4-BE49-F238E27FC236}">
                <a16:creationId xmlns:a16="http://schemas.microsoft.com/office/drawing/2014/main" id="{370D7838-376E-E55F-B47B-9934A4C6F713}"/>
              </a:ext>
            </a:extLst>
          </p:cNvPr>
          <p:cNvSpPr>
            <a:spLocks noGrp="1"/>
          </p:cNvSpPr>
          <p:nvPr>
            <p:ph type="sldNum" sz="quarter" idx="12"/>
          </p:nvPr>
        </p:nvSpPr>
        <p:spPr/>
        <p:txBody>
          <a:bodyPr/>
          <a:lstStyle/>
          <a:p>
            <a:fld id="{E12E0F37-B4C1-4EF2-8E7F-E9CBF9867325}" type="slidenum">
              <a:rPr lang="tr-TR" smtClean="0"/>
              <a:t>‹#›</a:t>
            </a:fld>
            <a:endParaRPr lang="tr-TR"/>
          </a:p>
        </p:txBody>
      </p:sp>
    </p:spTree>
    <p:extLst>
      <p:ext uri="{BB962C8B-B14F-4D97-AF65-F5344CB8AC3E}">
        <p14:creationId xmlns:p14="http://schemas.microsoft.com/office/powerpoint/2010/main" val="993939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86709-87FD-6240-69BC-A88FE371FD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tr-TR"/>
          </a:p>
        </p:txBody>
      </p:sp>
      <p:sp>
        <p:nvSpPr>
          <p:cNvPr id="3" name="Text Placeholder 2">
            <a:extLst>
              <a:ext uri="{FF2B5EF4-FFF2-40B4-BE49-F238E27FC236}">
                <a16:creationId xmlns:a16="http://schemas.microsoft.com/office/drawing/2014/main" id="{A1EAB728-87E0-4D6C-E175-E172706953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a:extLst>
              <a:ext uri="{FF2B5EF4-FFF2-40B4-BE49-F238E27FC236}">
                <a16:creationId xmlns:a16="http://schemas.microsoft.com/office/drawing/2014/main" id="{01BBDFF9-EF25-51B3-606E-9E5E653CB9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69F566-843A-4686-A592-7968AE8E56C0}" type="datetimeFigureOut">
              <a:rPr lang="tr-TR" smtClean="0"/>
              <a:t>13.01.2024</a:t>
            </a:fld>
            <a:endParaRPr lang="tr-TR"/>
          </a:p>
        </p:txBody>
      </p:sp>
      <p:sp>
        <p:nvSpPr>
          <p:cNvPr id="5" name="Footer Placeholder 4">
            <a:extLst>
              <a:ext uri="{FF2B5EF4-FFF2-40B4-BE49-F238E27FC236}">
                <a16:creationId xmlns:a16="http://schemas.microsoft.com/office/drawing/2014/main" id="{53928FA0-F398-7A08-4FB1-4442F8C792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a:extLst>
              <a:ext uri="{FF2B5EF4-FFF2-40B4-BE49-F238E27FC236}">
                <a16:creationId xmlns:a16="http://schemas.microsoft.com/office/drawing/2014/main" id="{6A18BC2B-5DEC-1FF8-E339-136D42757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2E0F37-B4C1-4EF2-8E7F-E9CBF9867325}" type="slidenum">
              <a:rPr lang="tr-TR" smtClean="0"/>
              <a:t>‹#›</a:t>
            </a:fld>
            <a:endParaRPr lang="tr-TR"/>
          </a:p>
        </p:txBody>
      </p:sp>
    </p:spTree>
    <p:extLst>
      <p:ext uri="{BB962C8B-B14F-4D97-AF65-F5344CB8AC3E}">
        <p14:creationId xmlns:p14="http://schemas.microsoft.com/office/powerpoint/2010/main" val="239911472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9330" cy="6858001"/>
          </a:xfrm>
        </p:spPr>
      </p:pic>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7886" y="-1"/>
            <a:ext cx="7445828" cy="6858002"/>
          </a:xfrm>
          <a:prstGeom prst="rect">
            <a:avLst/>
          </a:prstGeom>
        </p:spPr>
      </p:pic>
      <p:sp>
        <p:nvSpPr>
          <p:cNvPr id="3" name="TextBox 2">
            <a:extLst>
              <a:ext uri="{FF2B5EF4-FFF2-40B4-BE49-F238E27FC236}">
                <a16:creationId xmlns:a16="http://schemas.microsoft.com/office/drawing/2014/main" id="{490F2F0D-590C-FA72-FD63-132D390659B9}"/>
              </a:ext>
            </a:extLst>
          </p:cNvPr>
          <p:cNvSpPr txBox="1"/>
          <p:nvPr/>
        </p:nvSpPr>
        <p:spPr>
          <a:xfrm>
            <a:off x="961052" y="749039"/>
            <a:ext cx="4441373" cy="830997"/>
          </a:xfrm>
          <a:prstGeom prst="rect">
            <a:avLst/>
          </a:prstGeom>
          <a:solidFill>
            <a:srgbClr val="F4DB78"/>
          </a:solidFill>
        </p:spPr>
        <p:txBody>
          <a:bodyPr wrap="square" rtlCol="0">
            <a:spAutoFit/>
          </a:bodyPr>
          <a:lstStyle/>
          <a:p>
            <a:r>
              <a:rPr lang="tr-TR" sz="4800" dirty="0">
                <a:solidFill>
                  <a:srgbClr val="C00000"/>
                </a:solidFill>
              </a:rPr>
              <a:t>OLYMPİC GAMES</a:t>
            </a:r>
            <a:endParaRPr lang="tr-TR" dirty="0">
              <a:solidFill>
                <a:srgbClr val="C00000"/>
              </a:solidFill>
            </a:endParaRPr>
          </a:p>
        </p:txBody>
      </p:sp>
    </p:spTree>
    <p:extLst>
      <p:ext uri="{BB962C8B-B14F-4D97-AF65-F5344CB8AC3E}">
        <p14:creationId xmlns:p14="http://schemas.microsoft.com/office/powerpoint/2010/main" val="1968541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579407"/>
            <a:ext cx="10402432" cy="523220"/>
          </a:xfrm>
          <a:prstGeom prst="rect">
            <a:avLst/>
          </a:prstGeom>
          <a:solidFill>
            <a:srgbClr val="F4DB78"/>
          </a:solidFill>
        </p:spPr>
        <p:txBody>
          <a:bodyPr wrap="square" rtlCol="0">
            <a:spAutoFit/>
          </a:bodyPr>
          <a:lstStyle/>
          <a:p>
            <a:r>
              <a:rPr lang="tr-TR" sz="2800" b="1" dirty="0">
                <a:solidFill>
                  <a:srgbClr val="C00000"/>
                </a:solidFill>
              </a:rPr>
              <a:t>OLYMPİC GAMES-ANTİQUE</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209994" y="1368314"/>
            <a:ext cx="6567398" cy="5262979"/>
          </a:xfrm>
          <a:prstGeom prst="rect">
            <a:avLst/>
          </a:prstGeom>
          <a:solidFill>
            <a:srgbClr val="F4DB78"/>
          </a:solidFill>
        </p:spPr>
        <p:txBody>
          <a:bodyPr wrap="square" rtlCol="0">
            <a:spAutoFit/>
          </a:bodyPr>
          <a:lstStyle/>
          <a:p>
            <a:r>
              <a:rPr lang="tr-TR" sz="2400" b="0" i="0" dirty="0">
                <a:solidFill>
                  <a:srgbClr val="C00000"/>
                </a:solidFill>
                <a:effectLst/>
                <a:latin typeface="Söhne"/>
              </a:rPr>
              <a:t>Antik Yunan’da spor, MÖ 776’da </a:t>
            </a:r>
            <a:r>
              <a:rPr lang="tr-TR" sz="2400" b="0" i="0" dirty="0" err="1">
                <a:solidFill>
                  <a:srgbClr val="C00000"/>
                </a:solidFill>
                <a:effectLst/>
                <a:latin typeface="Söhne"/>
              </a:rPr>
              <a:t>Olimpiya’da</a:t>
            </a:r>
            <a:r>
              <a:rPr lang="tr-TR" sz="2400" b="0" i="0" dirty="0">
                <a:solidFill>
                  <a:srgbClr val="C00000"/>
                </a:solidFill>
                <a:effectLst/>
                <a:latin typeface="Söhne"/>
              </a:rPr>
              <a:t> yapılan antik döneme ait ilk olimpiyatların resmi olarak kaydedilmesiyle bir miras olarak kabul edilmiş ve bu dönemde spor, edebiyat, sanat ve felsefe kadar önemli bir yere sahiptir.</a:t>
            </a:r>
          </a:p>
          <a:p>
            <a:r>
              <a:rPr lang="tr-TR" sz="2400" b="0" i="0" dirty="0">
                <a:solidFill>
                  <a:srgbClr val="C00000"/>
                </a:solidFill>
                <a:effectLst/>
                <a:latin typeface="Söhne"/>
              </a:rPr>
              <a:t>Antik Olimpiyat oyunları, her dört yılda bir </a:t>
            </a:r>
            <a:r>
              <a:rPr lang="tr-TR" sz="2400" b="0" i="0" dirty="0" err="1">
                <a:solidFill>
                  <a:srgbClr val="C00000"/>
                </a:solidFill>
                <a:effectLst/>
                <a:latin typeface="Söhne"/>
              </a:rPr>
              <a:t>Peloponnes</a:t>
            </a:r>
            <a:r>
              <a:rPr lang="tr-TR" sz="2400" b="0" i="0" dirty="0">
                <a:solidFill>
                  <a:srgbClr val="C00000"/>
                </a:solidFill>
                <a:effectLst/>
                <a:latin typeface="Söhne"/>
              </a:rPr>
              <a:t> Yarımadası'ndaki </a:t>
            </a:r>
            <a:r>
              <a:rPr lang="tr-TR" sz="2400" b="0" i="0" dirty="0" err="1">
                <a:solidFill>
                  <a:srgbClr val="C00000"/>
                </a:solidFill>
                <a:effectLst/>
                <a:latin typeface="Söhne"/>
              </a:rPr>
              <a:t>Olympia</a:t>
            </a:r>
            <a:r>
              <a:rPr lang="tr-TR" sz="2400" b="0" i="0" dirty="0">
                <a:solidFill>
                  <a:srgbClr val="C00000"/>
                </a:solidFill>
                <a:effectLst/>
                <a:latin typeface="Söhne"/>
              </a:rPr>
              <a:t> adlı ücra bir bölgede düzenlenen ve Tanrı Zeus'a adanan bir festival kapsamında gerçekleşen önemli kült ve spor etkinlikleridir. Bu oyunlar, ilk çağlardan erken Orta Çağ'a kadar yaklaşık on iki asır boyunca devam etmiş, ancak MS 393'te Roma İmparatoru I. </a:t>
            </a:r>
            <a:r>
              <a:rPr lang="tr-TR" sz="2400" b="0" i="0" dirty="0" err="1">
                <a:solidFill>
                  <a:srgbClr val="C00000"/>
                </a:solidFill>
                <a:effectLst/>
                <a:latin typeface="Söhne"/>
              </a:rPr>
              <a:t>Teodosius'un</a:t>
            </a:r>
            <a:r>
              <a:rPr lang="tr-TR" sz="2400" b="0" i="0" dirty="0">
                <a:solidFill>
                  <a:srgbClr val="C00000"/>
                </a:solidFill>
                <a:effectLst/>
                <a:latin typeface="Söhne"/>
              </a:rPr>
              <a:t> Pagan uygulamaları yasaklamasıyla birlikte sona ermiştir.</a:t>
            </a:r>
            <a:endParaRPr lang="tr-TR" sz="2400" dirty="0">
              <a:solidFill>
                <a:srgbClr val="C00000"/>
              </a:solidFill>
            </a:endParaRPr>
          </a:p>
        </p:txBody>
      </p:sp>
      <p:pic>
        <p:nvPicPr>
          <p:cNvPr id="7" name="Picture 6" descr="A painting of a crowd of people&#10;&#10;Description automatically generated">
            <a:extLst>
              <a:ext uri="{FF2B5EF4-FFF2-40B4-BE49-F238E27FC236}">
                <a16:creationId xmlns:a16="http://schemas.microsoft.com/office/drawing/2014/main" id="{044BAFCF-F2EC-62C7-07A5-4C4868B3CC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53467" y="2017509"/>
            <a:ext cx="5204614" cy="3061537"/>
          </a:xfrm>
          <a:prstGeom prst="rect">
            <a:avLst/>
          </a:prstGeom>
        </p:spPr>
      </p:pic>
    </p:spTree>
    <p:extLst>
      <p:ext uri="{BB962C8B-B14F-4D97-AF65-F5344CB8AC3E}">
        <p14:creationId xmlns:p14="http://schemas.microsoft.com/office/powerpoint/2010/main" val="2669447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OLYMPİC GAMES-MODERN</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199505" y="1442274"/>
            <a:ext cx="7215448" cy="5262979"/>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Antik Çağ eserlerinin incelenmesiyle değeri anlaşılan Olimpiyat oyunları, Batı tarafından hayranlıkla karşılanmıştır. Antik oyunların kesintiye uğramasından yaklaşık bin beş yüz yıl sonra, 1892 yılında Paris’te toplanan bir spor konseyinde, Modern Olimpiyatların öncüsü ve kurucusu olarak kabul edilen Baron Pierre de </a:t>
            </a:r>
            <a:r>
              <a:rPr lang="tr-TR" sz="2400" b="0" i="0" u="none" strike="noStrike" baseline="0" dirty="0" err="1">
                <a:solidFill>
                  <a:srgbClr val="A33A47"/>
                </a:solidFill>
                <a:latin typeface="Times New Roman" panose="02020603050405020304" pitchFamily="18" charset="0"/>
              </a:rPr>
              <a:t>Coubertin</a:t>
            </a:r>
            <a:r>
              <a:rPr lang="tr-TR" sz="2400" b="0" i="0" u="none" strike="noStrike" baseline="0" dirty="0">
                <a:solidFill>
                  <a:srgbClr val="A33A47"/>
                </a:solidFill>
                <a:latin typeface="Times New Roman" panose="02020603050405020304" pitchFamily="18" charset="0"/>
              </a:rPr>
              <a:t>, yaptığı konuşmasında milletler arası bir spor organizasyonunun önemi üzerinde durdu ve Modern Olimpiyat oyunlarının başlaması için mücadele etmeye başladı. Modern Olimpiyat oyunlarının yeniden başlamasının altında yatan en önemli neden dünya “</a:t>
            </a:r>
            <a:r>
              <a:rPr lang="tr-TR" sz="2400" b="0" i="0" u="none" strike="noStrike" baseline="0" dirty="0" err="1">
                <a:solidFill>
                  <a:srgbClr val="A33A47"/>
                </a:solidFill>
                <a:latin typeface="Times New Roman" panose="02020603050405020304" pitchFamily="18" charset="0"/>
              </a:rPr>
              <a:t>barış”ına</a:t>
            </a:r>
            <a:r>
              <a:rPr lang="tr-TR" sz="2400" b="0" i="0" u="none" strike="noStrike" baseline="0" dirty="0">
                <a:solidFill>
                  <a:srgbClr val="A33A47"/>
                </a:solidFill>
                <a:latin typeface="Times New Roman" panose="02020603050405020304" pitchFamily="18" charset="0"/>
              </a:rPr>
              <a:t> katkı sağlamak ve milletler arasında dostluğa dayalı güçlü bir iletişimin olanaklarına zemin hazırlamaktı. </a:t>
            </a:r>
            <a:endParaRPr lang="tr-TR" sz="2400" dirty="0">
              <a:solidFill>
                <a:srgbClr val="A33A47"/>
              </a:solidFill>
            </a:endParaRPr>
          </a:p>
        </p:txBody>
      </p:sp>
      <p:pic>
        <p:nvPicPr>
          <p:cNvPr id="7" name="Picture 6" descr="A large crowd of people in front of a tower&#10;&#10;Description automatically generated">
            <a:extLst>
              <a:ext uri="{FF2B5EF4-FFF2-40B4-BE49-F238E27FC236}">
                <a16:creationId xmlns:a16="http://schemas.microsoft.com/office/drawing/2014/main" id="{1BA796E4-E63B-897C-90E1-B0AED3F8DF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6520" y="2180107"/>
            <a:ext cx="4775975" cy="2685507"/>
          </a:xfrm>
          <a:prstGeom prst="rect">
            <a:avLst/>
          </a:prstGeom>
        </p:spPr>
      </p:pic>
    </p:spTree>
    <p:extLst>
      <p:ext uri="{BB962C8B-B14F-4D97-AF65-F5344CB8AC3E}">
        <p14:creationId xmlns:p14="http://schemas.microsoft.com/office/powerpoint/2010/main" val="65077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639900"/>
            <a:ext cx="10402432" cy="523220"/>
          </a:xfrm>
          <a:prstGeom prst="rect">
            <a:avLst/>
          </a:prstGeom>
          <a:solidFill>
            <a:srgbClr val="F4DB78"/>
          </a:solidFill>
        </p:spPr>
        <p:txBody>
          <a:bodyPr wrap="square" rtlCol="0">
            <a:spAutoFit/>
          </a:bodyPr>
          <a:lstStyle/>
          <a:p>
            <a:r>
              <a:rPr lang="tr-TR" sz="2800" b="1" dirty="0">
                <a:solidFill>
                  <a:srgbClr val="C00000"/>
                </a:solidFill>
              </a:rPr>
              <a:t>OLYMPİC FLAG</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228476" y="1404948"/>
            <a:ext cx="7153225" cy="4893647"/>
          </a:xfrm>
          <a:prstGeom prst="rect">
            <a:avLst/>
          </a:prstGeom>
          <a:solidFill>
            <a:srgbClr val="F4DB78"/>
          </a:solidFill>
        </p:spPr>
        <p:txBody>
          <a:bodyPr wrap="square" rtlCol="0">
            <a:spAutoFit/>
          </a:bodyPr>
          <a:lstStyle/>
          <a:p>
            <a:r>
              <a:rPr lang="tr-TR" sz="2400" b="0" i="0" dirty="0">
                <a:solidFill>
                  <a:srgbClr val="A33A47"/>
                </a:solidFill>
                <a:effectLst/>
                <a:latin typeface="myriad-pro"/>
              </a:rPr>
              <a:t>Dünyanın beş kıtasını dostluk ve sevgi duyguları içinde birbirine bağlamayı simgeleyen bu halkalardan üçü üstte, ikisi alttadır. Üstteki üç halka soldan sırasıyla mavi, siyah ve kırmızı; alttakiler ise sarı ve yeşildir. Bu renkler önceleri kıtalara göre değerlendirilip, daha sonra ise Uluslararası Olimpiyat Komitesi bu beş rengin Olimpiyat Oyunları’na katılan üye ülkelerin bayrak renklerini simgelediğini açıklamıştır. Olimpiyat Bayrağı, 1920 Anvers Oyunları’ndan bu yana dalgalanır. Bu bayrak 6-12 Mayıs 1913 günleri arasında yapılan toplantıda Uluslararası Olimpiyat Oyunları’nın kurucusu ve Başkanı Baron Pierre de </a:t>
            </a:r>
            <a:r>
              <a:rPr lang="tr-TR" sz="2400" b="0" i="0" dirty="0" err="1">
                <a:solidFill>
                  <a:srgbClr val="A33A47"/>
                </a:solidFill>
                <a:effectLst/>
                <a:latin typeface="myriad-pro"/>
              </a:rPr>
              <a:t>Coubertin’in</a:t>
            </a:r>
            <a:r>
              <a:rPr lang="tr-TR" sz="2400" b="0" i="0" dirty="0">
                <a:solidFill>
                  <a:srgbClr val="A33A47"/>
                </a:solidFill>
                <a:effectLst/>
                <a:latin typeface="myriad-pro"/>
              </a:rPr>
              <a:t> teklifiyle genel kurula sunulup, ittifakla kabul edildi.</a:t>
            </a:r>
            <a:endParaRPr lang="tr-TR" sz="2400" dirty="0">
              <a:solidFill>
                <a:srgbClr val="A33A47"/>
              </a:solidFill>
            </a:endParaRPr>
          </a:p>
        </p:txBody>
      </p:sp>
      <p:pic>
        <p:nvPicPr>
          <p:cNvPr id="7" name="Picture 6" descr="A group of colorful rings&#10;&#10;Description automatically generated">
            <a:extLst>
              <a:ext uri="{FF2B5EF4-FFF2-40B4-BE49-F238E27FC236}">
                <a16:creationId xmlns:a16="http://schemas.microsoft.com/office/drawing/2014/main" id="{4F900FAE-2267-6048-8A5B-2D3429AA55B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3946" y="2394446"/>
            <a:ext cx="3996914" cy="2658817"/>
          </a:xfrm>
          <a:prstGeom prst="rect">
            <a:avLst/>
          </a:prstGeom>
        </p:spPr>
      </p:pic>
    </p:spTree>
    <p:extLst>
      <p:ext uri="{BB962C8B-B14F-4D97-AF65-F5344CB8AC3E}">
        <p14:creationId xmlns:p14="http://schemas.microsoft.com/office/powerpoint/2010/main" val="1190771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OLYMPİC MEDAL</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0" y="1692998"/>
            <a:ext cx="5335509" cy="4524315"/>
          </a:xfrm>
          <a:prstGeom prst="rect">
            <a:avLst/>
          </a:prstGeom>
          <a:solidFill>
            <a:srgbClr val="F4DB78"/>
          </a:solidFill>
        </p:spPr>
        <p:txBody>
          <a:bodyPr wrap="square" rtlCol="0">
            <a:spAutoFit/>
          </a:bodyPr>
          <a:lstStyle/>
          <a:p>
            <a:r>
              <a:rPr lang="tr-TR" sz="2400" b="0" i="0" dirty="0">
                <a:solidFill>
                  <a:srgbClr val="A33A47"/>
                </a:solidFill>
                <a:effectLst/>
                <a:latin typeface="myriad-pro"/>
              </a:rPr>
              <a:t>Olimpiyat Oyunları’nda birinciliği kazanan sporculara altın, ikincilere gümüş, üçüncülere de bronz madalyalar verilir. Madalyaların altın ve gümüş olanları kaplamadır. 60 milimetre çapında ve üç milimetre kalınlığındaki bu madalyaların bir yüzünde, 1928 yılından beri İtalyan sanatçısı </a:t>
            </a:r>
            <a:r>
              <a:rPr lang="tr-TR" sz="2400" b="0" i="0" dirty="0" err="1">
                <a:solidFill>
                  <a:srgbClr val="A33A47"/>
                </a:solidFill>
                <a:effectLst/>
                <a:latin typeface="myriad-pro"/>
              </a:rPr>
              <a:t>Gossoioli</a:t>
            </a:r>
            <a:r>
              <a:rPr lang="tr-TR" sz="2400" b="0" i="0" dirty="0">
                <a:solidFill>
                  <a:srgbClr val="A33A47"/>
                </a:solidFill>
                <a:effectLst/>
                <a:latin typeface="myriad-pro"/>
              </a:rPr>
              <a:t> tarafından çizilen, elinde zafer çelengi tutan Zafer Tanrıçası </a:t>
            </a:r>
            <a:r>
              <a:rPr lang="tr-TR" sz="2400" b="0" i="0" dirty="0" err="1">
                <a:solidFill>
                  <a:srgbClr val="A33A47"/>
                </a:solidFill>
                <a:effectLst/>
                <a:latin typeface="myriad-pro"/>
              </a:rPr>
              <a:t>Nike’ın</a:t>
            </a:r>
            <a:r>
              <a:rPr lang="tr-TR" sz="2400" b="0" i="0" dirty="0">
                <a:solidFill>
                  <a:srgbClr val="A33A47"/>
                </a:solidFill>
                <a:effectLst/>
                <a:latin typeface="myriad-pro"/>
              </a:rPr>
              <a:t> kabartması yer alır. Madalyanın arka yüzünde ise, olimpiyatı düzenleyen ülkenin amblemi bulunur.</a:t>
            </a:r>
            <a:endParaRPr lang="tr-TR" sz="2400" dirty="0">
              <a:solidFill>
                <a:srgbClr val="A33A47"/>
              </a:solidFill>
            </a:endParaRPr>
          </a:p>
        </p:txBody>
      </p:sp>
      <p:pic>
        <p:nvPicPr>
          <p:cNvPr id="7" name="Picture 6" descr="A group of medals on a black background&#10;&#10;Description automatically generated">
            <a:extLst>
              <a:ext uri="{FF2B5EF4-FFF2-40B4-BE49-F238E27FC236}">
                <a16:creationId xmlns:a16="http://schemas.microsoft.com/office/drawing/2014/main" id="{DD39B231-E00C-7CE9-A615-C43DECF465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7594" y="2250106"/>
            <a:ext cx="5600140" cy="3150079"/>
          </a:xfrm>
          <a:prstGeom prst="rect">
            <a:avLst/>
          </a:prstGeom>
        </p:spPr>
      </p:pic>
    </p:spTree>
    <p:extLst>
      <p:ext uri="{BB962C8B-B14F-4D97-AF65-F5344CB8AC3E}">
        <p14:creationId xmlns:p14="http://schemas.microsoft.com/office/powerpoint/2010/main" val="2829889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Modern Olimpiyatlarda Türkiye</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1" y="1656786"/>
            <a:ext cx="10402432" cy="5078313"/>
          </a:xfrm>
          <a:prstGeom prst="rect">
            <a:avLst/>
          </a:prstGeom>
          <a:solidFill>
            <a:srgbClr val="F4DB78"/>
          </a:solidFill>
        </p:spPr>
        <p:txBody>
          <a:bodyPr wrap="square" rtlCol="0">
            <a:spAutoFit/>
          </a:bodyPr>
          <a:lstStyle/>
          <a:p>
            <a:r>
              <a:rPr lang="tr-TR" sz="1800" b="0" i="0" u="none" strike="noStrike" baseline="0" dirty="0">
                <a:solidFill>
                  <a:srgbClr val="A33A47"/>
                </a:solidFill>
                <a:latin typeface="Times New Roman" panose="02020603050405020304" pitchFamily="18" charset="0"/>
              </a:rPr>
              <a:t>Osmanlı Devleti, 1896 yılında Yunanistan'da yapılan ilk olimpiyat oyunlarına resmi olarak müracaat etmişse de IOC’ye </a:t>
            </a:r>
            <a:r>
              <a:rPr lang="tr-TR" b="0" i="0" dirty="0">
                <a:solidFill>
                  <a:srgbClr val="A33A47"/>
                </a:solidFill>
                <a:effectLst/>
                <a:latin typeface="Google Sans"/>
              </a:rPr>
              <a:t> (International Olympic </a:t>
            </a:r>
            <a:r>
              <a:rPr lang="tr-TR" b="0" i="0" dirty="0" err="1">
                <a:solidFill>
                  <a:srgbClr val="A33A47"/>
                </a:solidFill>
                <a:effectLst/>
                <a:latin typeface="Google Sans"/>
              </a:rPr>
              <a:t>Committee</a:t>
            </a:r>
            <a:r>
              <a:rPr lang="tr-TR" b="0" i="0" dirty="0">
                <a:solidFill>
                  <a:srgbClr val="A33A47"/>
                </a:solidFill>
                <a:effectLst/>
                <a:latin typeface="Google Sans"/>
              </a:rPr>
              <a:t>) </a:t>
            </a:r>
            <a:r>
              <a:rPr lang="tr-TR" sz="1800" b="0" i="0" u="none" strike="noStrike" baseline="0" dirty="0">
                <a:solidFill>
                  <a:srgbClr val="A33A47"/>
                </a:solidFill>
                <a:latin typeface="Times New Roman" panose="02020603050405020304" pitchFamily="18" charset="0"/>
              </a:rPr>
              <a:t>üye olmamasından dolayı kabul edilmemiştir. Bu sebepten ötürü, Atina'ya giden Türk güreşçi Koç Mehmet oyunlara alınmamıştır. Modern olimpiyatların mimarı Pierre de </a:t>
            </a:r>
            <a:r>
              <a:rPr lang="tr-TR" sz="1800" b="0" i="0" u="none" strike="noStrike" baseline="0" dirty="0" err="1">
                <a:solidFill>
                  <a:srgbClr val="A33A47"/>
                </a:solidFill>
                <a:latin typeface="Times New Roman" panose="02020603050405020304" pitchFamily="18" charset="0"/>
              </a:rPr>
              <a:t>Coubertin</a:t>
            </a:r>
            <a:r>
              <a:rPr lang="tr-TR" sz="1800" b="0" i="0" u="none" strike="noStrike" baseline="0" dirty="0">
                <a:solidFill>
                  <a:srgbClr val="A33A47"/>
                </a:solidFill>
                <a:latin typeface="Times New Roman" panose="02020603050405020304" pitchFamily="18" charset="0"/>
              </a:rPr>
              <a:t>, İstanbul'a gelerek Selim Sırrı Tarcan'la bizzat tanışmış, ondan Osmanlı Olimpiyat Cemiyeti'ni kurmasını ve Osmanlı Devleti'nin IOC'deki ilk temsilcisi olmasını istemiştir. 1908 yılında II. Meşrutiyet'in ilanıyla birlikte "Osmanlı Milli Olimpiyat Cemiyeti" kurulmuşsa da cemiyetin IOC'ye kabul edilmesi 1911'de gerçekleşmiştir. </a:t>
            </a:r>
          </a:p>
          <a:p>
            <a:r>
              <a:rPr lang="tr-TR" sz="1800" b="0" i="0" u="none" strike="noStrike" baseline="0" dirty="0">
                <a:solidFill>
                  <a:srgbClr val="A33A47"/>
                </a:solidFill>
                <a:latin typeface="Times New Roman" panose="02020603050405020304" pitchFamily="18" charset="0"/>
              </a:rPr>
              <a:t>Osmanlı Devleti'nin ilk olimpiyat başarısı, modern olimpiyatların onuncu yıl dönümünde 1906'da Atina'da düzenlenen ara oyunlarda gelmiştir. IOC kurallarının uygulanmadığı bu oyunlarda Osmanlı Devleti'ni temsil eden Yorgo </a:t>
            </a:r>
            <a:r>
              <a:rPr lang="tr-TR" sz="1800" b="0" i="0" u="none" strike="noStrike" baseline="0" dirty="0" err="1">
                <a:solidFill>
                  <a:srgbClr val="A33A47"/>
                </a:solidFill>
                <a:latin typeface="Times New Roman" panose="02020603050405020304" pitchFamily="18" charset="0"/>
              </a:rPr>
              <a:t>Albiranitis</a:t>
            </a:r>
            <a:r>
              <a:rPr lang="tr-TR" sz="1800" b="0" i="0" u="none" strike="noStrike" baseline="0" dirty="0">
                <a:solidFill>
                  <a:srgbClr val="A33A47"/>
                </a:solidFill>
                <a:latin typeface="Times New Roman" panose="02020603050405020304" pitchFamily="18" charset="0"/>
              </a:rPr>
              <a:t> 10 metrelik ipe tırmanma yarışında birincilik kazanmıştır .</a:t>
            </a:r>
          </a:p>
          <a:p>
            <a:r>
              <a:rPr lang="tr-TR" sz="1800" b="0" i="0" u="none" strike="noStrike" baseline="0" dirty="0">
                <a:solidFill>
                  <a:srgbClr val="A33A47"/>
                </a:solidFill>
                <a:latin typeface="Times New Roman" panose="02020603050405020304" pitchFamily="18" charset="0"/>
              </a:rPr>
              <a:t>1914'de Birinci Dünya Savaşı'nın patlak vermesinden ötürü 1916'da Berlin'de yapılması planlanan olimpiyat oyunları yapılamamıştır. Savaş sonunda</a:t>
            </a:r>
            <a:r>
              <a:rPr lang="tr-TR" dirty="0">
                <a:solidFill>
                  <a:srgbClr val="A33A47"/>
                </a:solidFill>
                <a:latin typeface="Times New Roman" panose="02020603050405020304" pitchFamily="18" charset="0"/>
              </a:rPr>
              <a:t> </a:t>
            </a:r>
            <a:r>
              <a:rPr lang="tr-TR" sz="1800" b="0" i="0" u="none" strike="noStrike" baseline="0" dirty="0">
                <a:solidFill>
                  <a:srgbClr val="A33A47"/>
                </a:solidFill>
                <a:latin typeface="Times New Roman" panose="02020603050405020304" pitchFamily="18" charset="0"/>
              </a:rPr>
              <a:t>1919’da on sekizinci toplantısını yapan IOC, savaşın sorumlusu olarak gördüğü Almanya, Avusturya, Macaristan, Bulgaristan ve Osmanlı Devletinin Anvers Olimpiyatları'na çağrılmamasına, bu ülkelerin Milli Olimpiyat Komitelerinin tanınmamasına ve IOC'ye üye olarak seçtikleri yetkililerin de üyeliklerinin iptal edilmesine vermiştir. Daha sonra, 2-6 Haziran 1921 tarihleri arasında Lozan'da toplanan on dokuzuncu IOC Kongresi'nde, Macar ve Bulgar temsilcilerin yanı sıra Türkiye temsilcisi Selim Sırrı Tarcan'ın da üyeliğinin kabulüne ve Osmanlı Devletinin 1924 Paris Olimpiyatlarına çağrılmasına karar verilmiştir.</a:t>
            </a:r>
            <a:endParaRPr lang="tr-TR" dirty="0">
              <a:solidFill>
                <a:srgbClr val="A33A47"/>
              </a:solidFill>
            </a:endParaRPr>
          </a:p>
        </p:txBody>
      </p:sp>
    </p:spTree>
    <p:extLst>
      <p:ext uri="{BB962C8B-B14F-4D97-AF65-F5344CB8AC3E}">
        <p14:creationId xmlns:p14="http://schemas.microsoft.com/office/powerpoint/2010/main" val="417830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959667" y="517844"/>
            <a:ext cx="10402432" cy="523220"/>
          </a:xfrm>
          <a:prstGeom prst="rect">
            <a:avLst/>
          </a:prstGeom>
          <a:solidFill>
            <a:srgbClr val="F4DB78"/>
          </a:solidFill>
        </p:spPr>
        <p:txBody>
          <a:bodyPr wrap="square" rtlCol="0">
            <a:spAutoFit/>
          </a:bodyPr>
          <a:lstStyle/>
          <a:p>
            <a:r>
              <a:rPr lang="tr-TR" sz="2800" b="1" dirty="0">
                <a:solidFill>
                  <a:srgbClr val="C00000"/>
                </a:solidFill>
              </a:rPr>
              <a:t>1896</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484788" y="1149727"/>
            <a:ext cx="5976211" cy="5324535"/>
          </a:xfrm>
          <a:prstGeom prst="rect">
            <a:avLst/>
          </a:prstGeom>
          <a:solidFill>
            <a:srgbClr val="F4DB78"/>
          </a:solidFill>
        </p:spPr>
        <p:txBody>
          <a:bodyPr wrap="square" rtlCol="0">
            <a:spAutoFit/>
          </a:bodyPr>
          <a:lstStyle/>
          <a:p>
            <a:r>
              <a:rPr lang="tr-TR" sz="2000" b="0" i="0" u="none" strike="noStrike" baseline="0" dirty="0">
                <a:solidFill>
                  <a:srgbClr val="A33A47"/>
                </a:solidFill>
                <a:latin typeface="Times New Roman" panose="02020603050405020304" pitchFamily="18" charset="0"/>
              </a:rPr>
              <a:t>1986 Atina’da düzenlenen ilk Olimpiyat Oyunlarına katılım oranı, günümüzü baz aldığımızda oldukça düşüktü. Olimpiyatları düzenleyen </a:t>
            </a:r>
            <a:r>
              <a:rPr lang="tr-TR" sz="2000" b="0" i="0" u="none" strike="noStrike" baseline="0" dirty="0" err="1">
                <a:solidFill>
                  <a:srgbClr val="A33A47"/>
                </a:solidFill>
                <a:latin typeface="Times New Roman" panose="02020603050405020304" pitchFamily="18" charset="0"/>
              </a:rPr>
              <a:t>Coubertin</a:t>
            </a:r>
            <a:r>
              <a:rPr lang="tr-TR" sz="2000" b="0" i="0" u="none" strike="noStrike" baseline="0" dirty="0">
                <a:solidFill>
                  <a:srgbClr val="A33A47"/>
                </a:solidFill>
                <a:latin typeface="Times New Roman" panose="02020603050405020304" pitchFamily="18" charset="0"/>
              </a:rPr>
              <a:t>, Olimpiyat Oyunlarına katılımın çok olmasını çok arzulasa da, o dönem Yunanistan’ın içinde bulunduğu maddi koşullar buna elverecek durumda değildi. 1896 da olimpiyatlara katılan ülkeler, Yunanistan, Fransa, Almanya, Şili, A.B.D, Avustralya, İngiltere, İsveç, İsviçre, Danimarka, Macaristan, Avusturya ve </a:t>
            </a:r>
          </a:p>
          <a:p>
            <a:r>
              <a:rPr lang="tr-TR" sz="2000" b="0" i="0" u="none" strike="noStrike" baseline="0" dirty="0">
                <a:solidFill>
                  <a:srgbClr val="A33A47"/>
                </a:solidFill>
                <a:latin typeface="Times New Roman" panose="02020603050405020304" pitchFamily="18" charset="0"/>
              </a:rPr>
              <a:t>Bulgaristan’dan oluşmaktaydı. Bu dönem düzenlenmiş oyunların programındaki spor dalları dokuz tanedir. Bunlar: Atletizm, eskrim, halter, bisiklet, güreş, atıcılık, yüzme, tenis ve jimnastiktir. Olimpiyatlara dünyanın ilgisini çekmek için Yunan Milli Olimpiyat Komitesi Başkanı olan Yunan </a:t>
            </a:r>
            <a:r>
              <a:rPr lang="tr-TR" sz="2000" b="0" i="0" u="none" strike="noStrike" baseline="0" dirty="0" err="1">
                <a:solidFill>
                  <a:srgbClr val="A33A47"/>
                </a:solidFill>
                <a:latin typeface="Times New Roman" panose="02020603050405020304" pitchFamily="18" charset="0"/>
              </a:rPr>
              <a:t>Veliahtı</a:t>
            </a:r>
            <a:r>
              <a:rPr lang="tr-TR" sz="2000" b="0" i="0" u="none" strike="noStrike" baseline="0" dirty="0">
                <a:solidFill>
                  <a:srgbClr val="A33A47"/>
                </a:solidFill>
                <a:latin typeface="Times New Roman" panose="02020603050405020304" pitchFamily="18" charset="0"/>
              </a:rPr>
              <a:t>, bizzat bütün ülkelere mektup göndererek, onları Olimpiyatlara katılmaya </a:t>
            </a:r>
            <a:r>
              <a:rPr lang="tr-TR" sz="2000" b="0" i="0" u="none" strike="noStrike" baseline="0">
                <a:solidFill>
                  <a:srgbClr val="A33A47"/>
                </a:solidFill>
                <a:latin typeface="Times New Roman" panose="02020603050405020304" pitchFamily="18" charset="0"/>
              </a:rPr>
              <a:t>davet etmiştir.</a:t>
            </a:r>
            <a:endParaRPr lang="tr-TR" sz="2000" dirty="0">
              <a:solidFill>
                <a:srgbClr val="A33A47"/>
              </a:solidFill>
            </a:endParaRPr>
          </a:p>
        </p:txBody>
      </p:sp>
      <p:pic>
        <p:nvPicPr>
          <p:cNvPr id="9" name="Picture 8" descr="A screenshot of a computer screen&#10;&#10;Description automatically generated">
            <a:extLst>
              <a:ext uri="{FF2B5EF4-FFF2-40B4-BE49-F238E27FC236}">
                <a16:creationId xmlns:a16="http://schemas.microsoft.com/office/drawing/2014/main" id="{6007F516-58C6-8140-2D01-2629BCB773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86267" y="1292321"/>
            <a:ext cx="2829320" cy="1190791"/>
          </a:xfrm>
          <a:prstGeom prst="rect">
            <a:avLst/>
          </a:prstGeom>
        </p:spPr>
      </p:pic>
      <p:pic>
        <p:nvPicPr>
          <p:cNvPr id="11" name="Picture 10" descr="A yellow and red graph&#10;&#10;Description automatically generated with medium confidence">
            <a:extLst>
              <a:ext uri="{FF2B5EF4-FFF2-40B4-BE49-F238E27FC236}">
                <a16:creationId xmlns:a16="http://schemas.microsoft.com/office/drawing/2014/main" id="{063E75DA-C6B1-C885-CC3C-5AFC1AD9EE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14292" y="2343242"/>
            <a:ext cx="4173270" cy="2381582"/>
          </a:xfrm>
          <a:prstGeom prst="rect">
            <a:avLst/>
          </a:prstGeom>
        </p:spPr>
      </p:pic>
      <p:pic>
        <p:nvPicPr>
          <p:cNvPr id="13" name="Picture 12" descr="A screenshot of a graph&#10;&#10;Description automatically generated">
            <a:extLst>
              <a:ext uri="{FF2B5EF4-FFF2-40B4-BE49-F238E27FC236}">
                <a16:creationId xmlns:a16="http://schemas.microsoft.com/office/drawing/2014/main" id="{DFBAD229-55F1-8772-CFF2-9B5F66075E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38716" y="4548657"/>
            <a:ext cx="4410691" cy="2391109"/>
          </a:xfrm>
          <a:prstGeom prst="rect">
            <a:avLst/>
          </a:prstGeom>
        </p:spPr>
      </p:pic>
    </p:spTree>
    <p:extLst>
      <p:ext uri="{BB962C8B-B14F-4D97-AF65-F5344CB8AC3E}">
        <p14:creationId xmlns:p14="http://schemas.microsoft.com/office/powerpoint/2010/main" val="3672088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1940 </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1" y="1692999"/>
            <a:ext cx="5976211" cy="4524315"/>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1940 yılında yapılması planlanan on ikinci Olimpiyat Oyunları için İskenderiye, Atina, Barcelona, Budapeşte, Buenos Aires, Dublin, Lozan, Montreal, Rio de </a:t>
            </a:r>
            <a:r>
              <a:rPr lang="tr-TR" sz="2400" b="0" i="0" u="none" strike="noStrike" baseline="0" dirty="0" err="1">
                <a:solidFill>
                  <a:srgbClr val="A33A47"/>
                </a:solidFill>
                <a:latin typeface="Times New Roman" panose="02020603050405020304" pitchFamily="18" charset="0"/>
              </a:rPr>
              <a:t>Janerio</a:t>
            </a:r>
            <a:r>
              <a:rPr lang="tr-TR" sz="2400" b="0" i="0" u="none" strike="noStrike" baseline="0" dirty="0">
                <a:solidFill>
                  <a:srgbClr val="A33A47"/>
                </a:solidFill>
                <a:latin typeface="Times New Roman" panose="02020603050405020304" pitchFamily="18" charset="0"/>
              </a:rPr>
              <a:t>, Roma ve Tokyo kentleri aday olmuştur. Yapılan elemeler sonucunda İOC, oyunların Tokyo’da gerçekleştirilmesine karar vermişti. Fakat 16 Haziran 1938’de, ikinci Çin-Japonya savaşı patlak verince, oyunlar Tokyo’dan alınıp, Helsinki’ye verilmiştir. 1940 yılında İkinci Dünya Savaşı başlayınca, oyunlar bütünüyle iptal edilmiştir.</a:t>
            </a:r>
          </a:p>
        </p:txBody>
      </p:sp>
    </p:spTree>
    <p:extLst>
      <p:ext uri="{BB962C8B-B14F-4D97-AF65-F5344CB8AC3E}">
        <p14:creationId xmlns:p14="http://schemas.microsoft.com/office/powerpoint/2010/main" val="1993458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1960</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1" y="1692999"/>
            <a:ext cx="5976211" cy="4524315"/>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Roma’nın ikinci büyük sporcusu ise Etiyopyalı </a:t>
            </a:r>
            <a:r>
              <a:rPr lang="tr-TR" sz="2400" b="0" i="0" u="none" strike="noStrike" baseline="0" dirty="0" err="1">
                <a:solidFill>
                  <a:srgbClr val="A33A47"/>
                </a:solidFill>
                <a:latin typeface="Times New Roman" panose="02020603050405020304" pitchFamily="18" charset="0"/>
              </a:rPr>
              <a:t>Abebe</a:t>
            </a:r>
            <a:r>
              <a:rPr lang="tr-TR" sz="2400" b="0" i="0" u="none" strike="noStrike" baseline="0" dirty="0">
                <a:solidFill>
                  <a:srgbClr val="A33A47"/>
                </a:solidFill>
                <a:latin typeface="Times New Roman" panose="02020603050405020304" pitchFamily="18" charset="0"/>
              </a:rPr>
              <a:t> </a:t>
            </a:r>
            <a:r>
              <a:rPr lang="tr-TR" sz="2400" b="0" i="0" u="none" strike="noStrike" baseline="0" dirty="0" err="1">
                <a:solidFill>
                  <a:srgbClr val="A33A47"/>
                </a:solidFill>
                <a:latin typeface="Times New Roman" panose="02020603050405020304" pitchFamily="18" charset="0"/>
              </a:rPr>
              <a:t>Bikila</a:t>
            </a:r>
            <a:r>
              <a:rPr lang="tr-TR" sz="2400" b="0" i="0" u="none" strike="noStrike" baseline="0" dirty="0">
                <a:solidFill>
                  <a:srgbClr val="A33A47"/>
                </a:solidFill>
                <a:latin typeface="Times New Roman" panose="02020603050405020304" pitchFamily="18" charset="0"/>
              </a:rPr>
              <a:t> adlı sporcudur. Uygun ayakkabı bulunamadığı için 42 kilometre 195 metreyi 2 saat 15 dakika ve 16 saniyede çıplak ayakla koşan </a:t>
            </a:r>
            <a:r>
              <a:rPr lang="tr-TR" sz="2400" b="0" i="0" u="none" strike="noStrike" baseline="0" dirty="0" err="1">
                <a:solidFill>
                  <a:srgbClr val="A33A47"/>
                </a:solidFill>
                <a:latin typeface="Times New Roman" panose="02020603050405020304" pitchFamily="18" charset="0"/>
              </a:rPr>
              <a:t>Bikila</a:t>
            </a:r>
            <a:r>
              <a:rPr lang="tr-TR" sz="2400" b="0" i="0" u="none" strike="noStrike" baseline="0" dirty="0">
                <a:solidFill>
                  <a:srgbClr val="A33A47"/>
                </a:solidFill>
                <a:latin typeface="Times New Roman" panose="02020603050405020304" pitchFamily="18" charset="0"/>
              </a:rPr>
              <a:t>, Olimpiyat altın madalyası kazanan ilk siyah Afrikalı atlet ve üst üste iki Olimpiyat maratonu kazanan ilk atlet olarak tarihe geçmiştir. Boksta </a:t>
            </a:r>
            <a:r>
              <a:rPr lang="tr-TR" sz="2400" b="0" i="0" u="none" strike="noStrike" baseline="0" dirty="0" err="1">
                <a:solidFill>
                  <a:srgbClr val="A33A47"/>
                </a:solidFill>
                <a:latin typeface="Times New Roman" panose="02020603050405020304" pitchFamily="18" charset="0"/>
              </a:rPr>
              <a:t>Cassius</a:t>
            </a:r>
            <a:r>
              <a:rPr lang="tr-TR" sz="2400" b="0" i="0" u="none" strike="noStrike" baseline="0" dirty="0">
                <a:solidFill>
                  <a:srgbClr val="A33A47"/>
                </a:solidFill>
                <a:latin typeface="Times New Roman" panose="02020603050405020304" pitchFamily="18" charset="0"/>
              </a:rPr>
              <a:t> </a:t>
            </a:r>
            <a:r>
              <a:rPr lang="tr-TR" sz="2400" b="0" i="0" u="none" strike="noStrike" baseline="0" dirty="0" err="1">
                <a:solidFill>
                  <a:srgbClr val="A33A47"/>
                </a:solidFill>
                <a:latin typeface="Times New Roman" panose="02020603050405020304" pitchFamily="18" charset="0"/>
              </a:rPr>
              <a:t>Clay</a:t>
            </a:r>
            <a:r>
              <a:rPr lang="tr-TR" sz="2400" b="0" i="0" u="none" strike="noStrike" baseline="0" dirty="0">
                <a:solidFill>
                  <a:srgbClr val="A33A47"/>
                </a:solidFill>
                <a:latin typeface="Times New Roman" panose="02020603050405020304" pitchFamily="18" charset="0"/>
              </a:rPr>
              <a:t> (Muhammed Ali), rakiplerini kolaylıkla yenerek kürsünün en üst basamağına çıkmış, basın toplantılarında ve Olimpiyat Köyü’ndeki içten davranışlarıyla büyük ilgi görmüştür.</a:t>
            </a:r>
          </a:p>
        </p:txBody>
      </p:sp>
    </p:spTree>
    <p:extLst>
      <p:ext uri="{BB962C8B-B14F-4D97-AF65-F5344CB8AC3E}">
        <p14:creationId xmlns:p14="http://schemas.microsoft.com/office/powerpoint/2010/main" val="317822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1968</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1" y="1692999"/>
            <a:ext cx="5976211" cy="3416320"/>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12-27 Ekim 1968 tarihleri arasında gerçekleştirilen </a:t>
            </a:r>
            <a:r>
              <a:rPr lang="tr-TR" sz="2400" b="0" i="0" u="none" strike="noStrike" baseline="0" dirty="0" err="1">
                <a:solidFill>
                  <a:srgbClr val="A33A47"/>
                </a:solidFill>
                <a:latin typeface="Times New Roman" panose="02020603050405020304" pitchFamily="18" charset="0"/>
              </a:rPr>
              <a:t>Mexico</a:t>
            </a:r>
            <a:r>
              <a:rPr lang="tr-TR" sz="2400" b="0" i="0" u="none" strike="noStrike" baseline="0" dirty="0">
                <a:solidFill>
                  <a:srgbClr val="A33A47"/>
                </a:solidFill>
                <a:latin typeface="Times New Roman" panose="02020603050405020304" pitchFamily="18" charset="0"/>
              </a:rPr>
              <a:t> City oyunları, kadınlara cinsiyet testi uygulayan ilk olimpiyat olarak tarihe geçti. Aynı zamanda, Meksikalı engel koşucusu </a:t>
            </a:r>
            <a:r>
              <a:rPr lang="tr-TR" sz="2400" b="0" i="0" u="none" strike="noStrike" baseline="0" dirty="0" err="1">
                <a:solidFill>
                  <a:srgbClr val="A33A47"/>
                </a:solidFill>
                <a:latin typeface="Times New Roman" panose="02020603050405020304" pitchFamily="18" charset="0"/>
              </a:rPr>
              <a:t>Enriqueata</a:t>
            </a:r>
            <a:r>
              <a:rPr lang="tr-TR" sz="2400" b="0" i="0" u="none" strike="noStrike" baseline="0" dirty="0">
                <a:solidFill>
                  <a:srgbClr val="A33A47"/>
                </a:solidFill>
                <a:latin typeface="Times New Roman" panose="02020603050405020304" pitchFamily="18" charset="0"/>
              </a:rPr>
              <a:t> </a:t>
            </a:r>
            <a:r>
              <a:rPr lang="tr-TR" sz="2400" b="0" i="0" u="none" strike="noStrike" baseline="0" dirty="0" err="1">
                <a:solidFill>
                  <a:srgbClr val="A33A47"/>
                </a:solidFill>
                <a:latin typeface="Times New Roman" panose="02020603050405020304" pitchFamily="18" charset="0"/>
              </a:rPr>
              <a:t>Basilio</a:t>
            </a:r>
            <a:r>
              <a:rPr lang="tr-TR" sz="2400" b="0" i="0" u="none" strike="noStrike" baseline="0" dirty="0">
                <a:solidFill>
                  <a:srgbClr val="A33A47"/>
                </a:solidFill>
                <a:latin typeface="Times New Roman" panose="02020603050405020304" pitchFamily="18" charset="0"/>
              </a:rPr>
              <a:t>, açılış töreninde olimpiyat meşalesini yakan ilk kadın atlet olarak tarihe geçti. Bu oyunlarda ilk kez kazanan bütün sporcular doping testine tabi tutuldu ve bir sporcuda doping tespit edildi. </a:t>
            </a:r>
          </a:p>
        </p:txBody>
      </p:sp>
    </p:spTree>
    <p:extLst>
      <p:ext uri="{BB962C8B-B14F-4D97-AF65-F5344CB8AC3E}">
        <p14:creationId xmlns:p14="http://schemas.microsoft.com/office/powerpoint/2010/main" val="1608294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1980</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433919" y="1626498"/>
            <a:ext cx="5976211" cy="4093428"/>
          </a:xfrm>
          <a:prstGeom prst="rect">
            <a:avLst/>
          </a:prstGeom>
          <a:solidFill>
            <a:srgbClr val="F4DB78"/>
          </a:solidFill>
        </p:spPr>
        <p:txBody>
          <a:bodyPr wrap="square" rtlCol="0">
            <a:spAutoFit/>
          </a:bodyPr>
          <a:lstStyle/>
          <a:p>
            <a:r>
              <a:rPr lang="tr-TR" sz="2000" b="0" i="0" u="none" strike="noStrike" baseline="0" dirty="0">
                <a:solidFill>
                  <a:srgbClr val="A33A47"/>
                </a:solidFill>
                <a:latin typeface="Times New Roman" panose="02020603050405020304" pitchFamily="18" charset="0"/>
              </a:rPr>
              <a:t>Olimpiyatların başlamasına bir yıl kala Sovyetler Birliği’nin Afganistan’ı işgal etmesinden dolayı Moskova Oyunları büyük çaplı bir boykotla karşı karşıya kalmıştır. ABD Başkanı Jimmy Carter, tüm dünyayı olimpiyatları boykot etmeye çağırmıştır ve 147 ülkeden 66 tanesi işgali sebep göstererek oyunlara katılmama kararı almıştır </a:t>
            </a:r>
          </a:p>
          <a:p>
            <a:r>
              <a:rPr lang="tr-TR" sz="2000" b="0" i="0" u="none" strike="noStrike" baseline="0" dirty="0">
                <a:solidFill>
                  <a:srgbClr val="A33A47"/>
                </a:solidFill>
                <a:latin typeface="Times New Roman" panose="02020603050405020304" pitchFamily="18" charset="0"/>
              </a:rPr>
              <a:t>Olimpiyat oyunları ilk kez sosyalist bir ülkede düzenlenmekteydi. Yapılan boykottan ötürü oyunlara katılım 1956’dan bu yana en düşük seviyeye düşmüştür. Sovyet jimnastikçi Aleksandr </a:t>
            </a:r>
            <a:r>
              <a:rPr lang="tr-TR" sz="2000" b="0" i="0" u="none" strike="noStrike" baseline="0" dirty="0" err="1">
                <a:solidFill>
                  <a:srgbClr val="A33A47"/>
                </a:solidFill>
                <a:latin typeface="Times New Roman" panose="02020603050405020304" pitchFamily="18" charset="0"/>
              </a:rPr>
              <a:t>Dityatin</a:t>
            </a:r>
            <a:r>
              <a:rPr lang="tr-TR" sz="2000" b="0" i="0" u="none" strike="noStrike" baseline="0" dirty="0">
                <a:solidFill>
                  <a:srgbClr val="A33A47"/>
                </a:solidFill>
                <a:latin typeface="Times New Roman" panose="02020603050405020304" pitchFamily="18" charset="0"/>
              </a:rPr>
              <a:t> erkeklerde tüm kategorilerde altın madalya kazanarak, bir olimpiyatta 8 madalya kazanan tek atlet unvanını elde etmiştir. </a:t>
            </a:r>
          </a:p>
        </p:txBody>
      </p:sp>
      <p:pic>
        <p:nvPicPr>
          <p:cNvPr id="7" name="Picture 6" descr="A screenshot of a computer screen&#10;&#10;Description automatically generated">
            <a:extLst>
              <a:ext uri="{FF2B5EF4-FFF2-40B4-BE49-F238E27FC236}">
                <a16:creationId xmlns:a16="http://schemas.microsoft.com/office/drawing/2014/main" id="{2E58A404-DC93-0FBC-E2CD-35CF69D886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93363" y="966135"/>
            <a:ext cx="2867425" cy="1133633"/>
          </a:xfrm>
          <a:prstGeom prst="rect">
            <a:avLst/>
          </a:prstGeom>
        </p:spPr>
      </p:pic>
      <p:pic>
        <p:nvPicPr>
          <p:cNvPr id="10" name="Picture 9" descr="A graph of a number of people&#10;&#10;Description automatically generated">
            <a:extLst>
              <a:ext uri="{FF2B5EF4-FFF2-40B4-BE49-F238E27FC236}">
                <a16:creationId xmlns:a16="http://schemas.microsoft.com/office/drawing/2014/main" id="{7BBE4B89-61C7-1D69-DBE7-58EA5178D3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9797" y="2137444"/>
            <a:ext cx="4391638" cy="2362530"/>
          </a:xfrm>
          <a:prstGeom prst="rect">
            <a:avLst/>
          </a:prstGeom>
        </p:spPr>
      </p:pic>
      <p:pic>
        <p:nvPicPr>
          <p:cNvPr id="12" name="Picture 11" descr="A graph of a number&#10;&#10;Description automatically generated">
            <a:extLst>
              <a:ext uri="{FF2B5EF4-FFF2-40B4-BE49-F238E27FC236}">
                <a16:creationId xmlns:a16="http://schemas.microsoft.com/office/drawing/2014/main" id="{E892BB54-A79E-7D1D-C4EE-D7277FAAE53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70923" y="4537649"/>
            <a:ext cx="5911477" cy="2263199"/>
          </a:xfrm>
          <a:prstGeom prst="rect">
            <a:avLst/>
          </a:prstGeom>
        </p:spPr>
      </p:pic>
    </p:spTree>
    <p:extLst>
      <p:ext uri="{BB962C8B-B14F-4D97-AF65-F5344CB8AC3E}">
        <p14:creationId xmlns:p14="http://schemas.microsoft.com/office/powerpoint/2010/main" val="712563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1984</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497940" y="1676400"/>
            <a:ext cx="5976211" cy="4401205"/>
          </a:xfrm>
          <a:prstGeom prst="rect">
            <a:avLst/>
          </a:prstGeom>
          <a:solidFill>
            <a:srgbClr val="F4DB78"/>
          </a:solidFill>
        </p:spPr>
        <p:txBody>
          <a:bodyPr wrap="square" rtlCol="0">
            <a:spAutoFit/>
          </a:bodyPr>
          <a:lstStyle/>
          <a:p>
            <a:r>
              <a:rPr lang="tr-TR" sz="2000" b="0" i="0" u="none" strike="noStrike" baseline="0" dirty="0">
                <a:solidFill>
                  <a:srgbClr val="A33A47"/>
                </a:solidFill>
                <a:latin typeface="Times New Roman" panose="02020603050405020304" pitchFamily="18" charset="0"/>
              </a:rPr>
              <a:t>Bir önceki Moskova Olimpiyatlarına boykot çağrısı yapan ABD’ye karşı Sovyetler Birliği de 1984 Los Angeles Olimpiyatlarını boykot etmiştir. ABD’yi boykot eden ülkeler arasında Afganistan da bulunmaktaydı. Bir önceki oyunlarda ABD’nin oyunları boykot etme nedeni Sovyetler Birliği’nin Afganistan’ı işgal etmesiydi. Bu çerçeveden bakıldığında Afganistan’ın ABD’yi boykot etmesi ilginç bir gelişme olarak görülebilir. </a:t>
            </a:r>
          </a:p>
          <a:p>
            <a:r>
              <a:rPr lang="tr-TR" sz="2000" b="0" i="0" u="none" strike="noStrike" baseline="0" dirty="0">
                <a:solidFill>
                  <a:srgbClr val="A33A47"/>
                </a:solidFill>
                <a:latin typeface="Times New Roman" panose="02020603050405020304" pitchFamily="18" charset="0"/>
              </a:rPr>
              <a:t>Los Angeles 1984 Olimpiyatları o güne kadar devlet tarafından organize edilmeyen tek olimpiyat olma özelliğini taşımaktaydı. Organizatörler bu sebepten ötürü büyük ölçüde sponsor firmalara bağımlı kalmıştır. Böylece Olimpiyat Oyunları ticarileşmiş oldu ve bu tutum oldukça büyük eleştiri almıştır.</a:t>
            </a:r>
          </a:p>
        </p:txBody>
      </p:sp>
      <p:pic>
        <p:nvPicPr>
          <p:cNvPr id="7" name="Picture 6" descr="A screenshot of a computer screen&#10;&#10;Description automatically generated">
            <a:extLst>
              <a:ext uri="{FF2B5EF4-FFF2-40B4-BE49-F238E27FC236}">
                <a16:creationId xmlns:a16="http://schemas.microsoft.com/office/drawing/2014/main" id="{2C77B2C9-9C5B-21EF-2971-553A2EEB6A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3391" y="1926329"/>
            <a:ext cx="2934109" cy="1209844"/>
          </a:xfrm>
          <a:prstGeom prst="rect">
            <a:avLst/>
          </a:prstGeom>
        </p:spPr>
      </p:pic>
      <p:pic>
        <p:nvPicPr>
          <p:cNvPr id="10" name="Picture 9" descr="A graph of different countries/regions&#10;&#10;Description automatically generated">
            <a:extLst>
              <a:ext uri="{FF2B5EF4-FFF2-40B4-BE49-F238E27FC236}">
                <a16:creationId xmlns:a16="http://schemas.microsoft.com/office/drawing/2014/main" id="{7FC85049-1BFC-F1FE-E600-28EE242676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37969" y="3877002"/>
            <a:ext cx="4324954" cy="2333951"/>
          </a:xfrm>
          <a:prstGeom prst="rect">
            <a:avLst/>
          </a:prstGeom>
        </p:spPr>
      </p:pic>
    </p:spTree>
    <p:extLst>
      <p:ext uri="{BB962C8B-B14F-4D97-AF65-F5344CB8AC3E}">
        <p14:creationId xmlns:p14="http://schemas.microsoft.com/office/powerpoint/2010/main" val="1501025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1988</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2" y="1692999"/>
            <a:ext cx="3894636" cy="1938992"/>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Halterde Türk sporcu Naim Süleymanoğlu silkme, koparma ve toplamda tam beş kez dünya ve Olimpiyat rekoru kırmıştır. </a:t>
            </a:r>
          </a:p>
        </p:txBody>
      </p:sp>
      <p:pic>
        <p:nvPicPr>
          <p:cNvPr id="7" name="Picture 6" descr="A screenshot of a computer&#10;&#10;Description automatically generated">
            <a:extLst>
              <a:ext uri="{FF2B5EF4-FFF2-40B4-BE49-F238E27FC236}">
                <a16:creationId xmlns:a16="http://schemas.microsoft.com/office/drawing/2014/main" id="{1CB8D000-1619-F869-D89D-5BA534262D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4464" y="1660722"/>
            <a:ext cx="2905530" cy="1267002"/>
          </a:xfrm>
          <a:prstGeom prst="rect">
            <a:avLst/>
          </a:prstGeom>
        </p:spPr>
      </p:pic>
      <p:pic>
        <p:nvPicPr>
          <p:cNvPr id="10" name="Picture 9" descr="A screenshot of a graph&#10;&#10;Description automatically generated">
            <a:extLst>
              <a:ext uri="{FF2B5EF4-FFF2-40B4-BE49-F238E27FC236}">
                <a16:creationId xmlns:a16="http://schemas.microsoft.com/office/drawing/2014/main" id="{C6A6EE6B-A1CF-D58D-BD49-AE34085D56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40672" y="3294684"/>
            <a:ext cx="6373114" cy="2524477"/>
          </a:xfrm>
          <a:prstGeom prst="rect">
            <a:avLst/>
          </a:prstGeom>
        </p:spPr>
      </p:pic>
    </p:spTree>
    <p:extLst>
      <p:ext uri="{BB962C8B-B14F-4D97-AF65-F5344CB8AC3E}">
        <p14:creationId xmlns:p14="http://schemas.microsoft.com/office/powerpoint/2010/main" val="2337660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656071"/>
            <a:ext cx="10402432" cy="523220"/>
          </a:xfrm>
          <a:prstGeom prst="rect">
            <a:avLst/>
          </a:prstGeom>
          <a:solidFill>
            <a:srgbClr val="F4DB78"/>
          </a:solidFill>
        </p:spPr>
        <p:txBody>
          <a:bodyPr wrap="square" rtlCol="0">
            <a:spAutoFit/>
          </a:bodyPr>
          <a:lstStyle/>
          <a:p>
            <a:r>
              <a:rPr lang="tr-TR" sz="2800" b="1" dirty="0">
                <a:solidFill>
                  <a:srgbClr val="C00000"/>
                </a:solidFill>
              </a:rPr>
              <a:t>1992</a:t>
            </a:r>
          </a:p>
        </p:txBody>
      </p:sp>
      <p:sp>
        <p:nvSpPr>
          <p:cNvPr id="3" name="TextBox 2">
            <a:extLst>
              <a:ext uri="{FF2B5EF4-FFF2-40B4-BE49-F238E27FC236}">
                <a16:creationId xmlns:a16="http://schemas.microsoft.com/office/drawing/2014/main" id="{72C64827-8C04-6E30-DDBA-FA7E7DFEC2C1}"/>
              </a:ext>
            </a:extLst>
          </p:cNvPr>
          <p:cNvSpPr txBox="1"/>
          <p:nvPr/>
        </p:nvSpPr>
        <p:spPr>
          <a:xfrm>
            <a:off x="307654" y="1501603"/>
            <a:ext cx="5976211" cy="4093428"/>
          </a:xfrm>
          <a:prstGeom prst="rect">
            <a:avLst/>
          </a:prstGeom>
          <a:solidFill>
            <a:srgbClr val="F4DB78"/>
          </a:solidFill>
        </p:spPr>
        <p:txBody>
          <a:bodyPr wrap="square" rtlCol="0">
            <a:spAutoFit/>
          </a:bodyPr>
          <a:lstStyle/>
          <a:p>
            <a:r>
              <a:rPr lang="tr-TR" sz="2000" b="0" i="0" u="none" strike="noStrike" baseline="0" dirty="0">
                <a:solidFill>
                  <a:srgbClr val="A33A47"/>
                </a:solidFill>
                <a:latin typeface="Times New Roman" panose="02020603050405020304" pitchFamily="18" charset="0"/>
              </a:rPr>
              <a:t>1992 Barcelona Oyunları pek çok ilke imza atmıştır. Resmi olarak sigaraya cephe alınan, ilk olimpik ateşkesin ilan edildiği, ilk siyah Afrikalı kadın sporcunun şampiyon olduğu, Barcelona Olimpiyatları, aynı zamanda 1972’den sonra </a:t>
            </a:r>
            <a:r>
              <a:rPr lang="tr-TR" sz="2000" b="0" i="0" u="none" strike="noStrike" baseline="0" dirty="0" err="1">
                <a:solidFill>
                  <a:srgbClr val="A33A47"/>
                </a:solidFill>
                <a:latin typeface="Times New Roman" panose="02020603050405020304" pitchFamily="18" charset="0"/>
              </a:rPr>
              <a:t>boykotsuz</a:t>
            </a:r>
            <a:r>
              <a:rPr lang="tr-TR" sz="2000" b="0" i="0" u="none" strike="noStrike" baseline="0" dirty="0">
                <a:solidFill>
                  <a:srgbClr val="A33A47"/>
                </a:solidFill>
                <a:latin typeface="Times New Roman" panose="02020603050405020304" pitchFamily="18" charset="0"/>
              </a:rPr>
              <a:t> geçen ilk Olimpiyat olmuştur. </a:t>
            </a:r>
          </a:p>
          <a:p>
            <a:r>
              <a:rPr lang="tr-TR" sz="2000" b="0" i="0" u="none" strike="noStrike" baseline="0" dirty="0">
                <a:solidFill>
                  <a:srgbClr val="A33A47"/>
                </a:solidFill>
                <a:latin typeface="Times New Roman" panose="02020603050405020304" pitchFamily="18" charset="0"/>
              </a:rPr>
              <a:t>Yine ırkçı tutumundan ötürü 1960’dan beridir oyunlara davet edilemeyen Güney Afrika, </a:t>
            </a:r>
            <a:r>
              <a:rPr lang="tr-TR" sz="2000" b="0" i="0" u="none" strike="noStrike" baseline="0" dirty="0" err="1">
                <a:solidFill>
                  <a:srgbClr val="A33A47"/>
                </a:solidFill>
                <a:latin typeface="Times New Roman" panose="02020603050405020304" pitchFamily="18" charset="0"/>
              </a:rPr>
              <a:t>Apartheid</a:t>
            </a:r>
            <a:r>
              <a:rPr lang="tr-TR" sz="2000" b="0" i="0" u="none" strike="noStrike" baseline="0" dirty="0">
                <a:solidFill>
                  <a:srgbClr val="A33A47"/>
                </a:solidFill>
                <a:latin typeface="Times New Roman" panose="02020603050405020304" pitchFamily="18" charset="0"/>
              </a:rPr>
              <a:t> (ırk ayrımcılığı) rejimini kaldırdığı için oyunlara tekrardan davet edilmiştir.</a:t>
            </a:r>
          </a:p>
          <a:p>
            <a:r>
              <a:rPr lang="tr-TR" sz="2000" b="0" i="0" u="none" strike="noStrike" baseline="0" dirty="0">
                <a:solidFill>
                  <a:srgbClr val="A33A47"/>
                </a:solidFill>
                <a:latin typeface="Times New Roman" panose="02020603050405020304" pitchFamily="18" charset="0"/>
              </a:rPr>
              <a:t>Etiyopyalı </a:t>
            </a:r>
            <a:r>
              <a:rPr lang="tr-TR" sz="2000" b="0" i="0" u="none" strike="noStrike" baseline="0" dirty="0" err="1">
                <a:solidFill>
                  <a:srgbClr val="A33A47"/>
                </a:solidFill>
                <a:latin typeface="Times New Roman" panose="02020603050405020304" pitchFamily="18" charset="0"/>
              </a:rPr>
              <a:t>Derartu</a:t>
            </a:r>
            <a:r>
              <a:rPr lang="tr-TR" sz="2000" b="0" i="0" u="none" strike="noStrike" baseline="0" dirty="0">
                <a:solidFill>
                  <a:srgbClr val="A33A47"/>
                </a:solidFill>
                <a:latin typeface="Times New Roman" panose="02020603050405020304" pitchFamily="18" charset="0"/>
              </a:rPr>
              <a:t> Tulu ise 10000 </a:t>
            </a:r>
            <a:r>
              <a:rPr lang="tr-TR" sz="2000" b="0" i="0" u="none" strike="noStrike" baseline="0" dirty="0" err="1">
                <a:solidFill>
                  <a:srgbClr val="A33A47"/>
                </a:solidFill>
                <a:latin typeface="Times New Roman" panose="02020603050405020304" pitchFamily="18" charset="0"/>
              </a:rPr>
              <a:t>mt</a:t>
            </a:r>
            <a:r>
              <a:rPr lang="tr-TR" sz="2000" b="0" i="0" u="none" strike="noStrike" baseline="0" dirty="0">
                <a:solidFill>
                  <a:srgbClr val="A33A47"/>
                </a:solidFill>
                <a:latin typeface="Times New Roman" panose="02020603050405020304" pitchFamily="18" charset="0"/>
              </a:rPr>
              <a:t> koşusunu birinci bitirerek altın madalya kazanan ilk siyahi sporcu olarak tarihe geçmiştir </a:t>
            </a:r>
          </a:p>
        </p:txBody>
      </p:sp>
      <p:pic>
        <p:nvPicPr>
          <p:cNvPr id="7" name="Picture 6" descr="A cartoon of a torch with flames&#10;&#10;Description automatically generated">
            <a:extLst>
              <a:ext uri="{FF2B5EF4-FFF2-40B4-BE49-F238E27FC236}">
                <a16:creationId xmlns:a16="http://schemas.microsoft.com/office/drawing/2014/main" id="{9EB6B616-543C-9EA9-7BC9-7C32379AA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3697" y="275205"/>
            <a:ext cx="1284953" cy="1284953"/>
          </a:xfrm>
          <a:prstGeom prst="rect">
            <a:avLst/>
          </a:prstGeom>
        </p:spPr>
      </p:pic>
      <p:sp>
        <p:nvSpPr>
          <p:cNvPr id="9" name="TextBox 8">
            <a:extLst>
              <a:ext uri="{FF2B5EF4-FFF2-40B4-BE49-F238E27FC236}">
                <a16:creationId xmlns:a16="http://schemas.microsoft.com/office/drawing/2014/main" id="{6DE5B5FE-536D-0602-0870-CA182DA5746D}"/>
              </a:ext>
            </a:extLst>
          </p:cNvPr>
          <p:cNvSpPr txBox="1"/>
          <p:nvPr/>
        </p:nvSpPr>
        <p:spPr>
          <a:xfrm>
            <a:off x="689487" y="6077605"/>
            <a:ext cx="10402432" cy="523220"/>
          </a:xfrm>
          <a:prstGeom prst="rect">
            <a:avLst/>
          </a:prstGeom>
          <a:solidFill>
            <a:srgbClr val="F4DB78"/>
          </a:solidFill>
        </p:spPr>
        <p:txBody>
          <a:bodyPr wrap="square" rtlCol="0">
            <a:spAutoFit/>
          </a:bodyPr>
          <a:lstStyle/>
          <a:p>
            <a:r>
              <a:rPr lang="tr-TR" sz="2800" b="1" dirty="0">
                <a:solidFill>
                  <a:srgbClr val="C00000"/>
                </a:solidFill>
              </a:rPr>
              <a:t>https://www.youtube.com/watch?v=XNyF7BO-fzk</a:t>
            </a:r>
          </a:p>
        </p:txBody>
      </p:sp>
      <p:pic>
        <p:nvPicPr>
          <p:cNvPr id="12" name="Picture 11" descr="A screenshot of a computer&#10;&#10;Description automatically generated">
            <a:extLst>
              <a:ext uri="{FF2B5EF4-FFF2-40B4-BE49-F238E27FC236}">
                <a16:creationId xmlns:a16="http://schemas.microsoft.com/office/drawing/2014/main" id="{12362B16-513E-7218-CD3C-824F1ECDD5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2362" y="1682210"/>
            <a:ext cx="3057952" cy="1267002"/>
          </a:xfrm>
          <a:prstGeom prst="rect">
            <a:avLst/>
          </a:prstGeom>
        </p:spPr>
      </p:pic>
      <p:pic>
        <p:nvPicPr>
          <p:cNvPr id="14" name="Picture 13" descr="A screenshot of a graph&#10;&#10;Description automatically generated">
            <a:extLst>
              <a:ext uri="{FF2B5EF4-FFF2-40B4-BE49-F238E27FC236}">
                <a16:creationId xmlns:a16="http://schemas.microsoft.com/office/drawing/2014/main" id="{A024A63F-427D-130A-FA08-8B1939D910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44711" y="3071264"/>
            <a:ext cx="5976211" cy="2467319"/>
          </a:xfrm>
          <a:prstGeom prst="rect">
            <a:avLst/>
          </a:prstGeom>
        </p:spPr>
      </p:pic>
    </p:spTree>
    <p:extLst>
      <p:ext uri="{BB962C8B-B14F-4D97-AF65-F5344CB8AC3E}">
        <p14:creationId xmlns:p14="http://schemas.microsoft.com/office/powerpoint/2010/main" val="2818067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31986" y="626507"/>
            <a:ext cx="10402432" cy="523220"/>
          </a:xfrm>
          <a:prstGeom prst="rect">
            <a:avLst/>
          </a:prstGeom>
          <a:solidFill>
            <a:srgbClr val="F4DB78"/>
          </a:solidFill>
        </p:spPr>
        <p:txBody>
          <a:bodyPr wrap="square" rtlCol="0">
            <a:spAutoFit/>
          </a:bodyPr>
          <a:lstStyle/>
          <a:p>
            <a:r>
              <a:rPr lang="tr-TR" sz="2800" b="1" dirty="0">
                <a:solidFill>
                  <a:srgbClr val="C00000"/>
                </a:solidFill>
              </a:rPr>
              <a:t>1996</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622439" y="1438123"/>
            <a:ext cx="5976211" cy="5262979"/>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Tanınmış boksör Muhammed Ali’nin açılış töreninde olimpiyat meşalesini yaktığı 1996 Atlanta Olimpiyatları, son derece dramatik olaylara sahne olmuştur. Bir kişinin ölümüne, yüzlerce kişinin de yaralanmasına neden olan bombalı bir saldırı gerçekleşmiştir. Her şeye rağmen, bu oyunlar sportif başarının yüksek oluşuyla ön plana çıkmıştır. 79 ülkenin madalya ile döndüğü oyunlarda, Türk halterci Naim Süleymanoğlu üç altın madalya alan tek halterci olarak öne çıkmıştır. </a:t>
            </a:r>
          </a:p>
          <a:p>
            <a:r>
              <a:rPr lang="tr-TR" sz="2400" b="0" i="0" u="none" strike="noStrike" baseline="0" dirty="0">
                <a:solidFill>
                  <a:srgbClr val="A33A47"/>
                </a:solidFill>
                <a:latin typeface="Times New Roman" panose="02020603050405020304" pitchFamily="18" charset="0"/>
              </a:rPr>
              <a:t>Olimpiyat tarihinde ilk kez Ulusal Olimpiyat Komitesi olan ülkelerin tamamı oyunlara katılım göstermiştir.</a:t>
            </a:r>
          </a:p>
        </p:txBody>
      </p:sp>
      <p:pic>
        <p:nvPicPr>
          <p:cNvPr id="7" name="Picture 6" descr="A screenshot of a computer screen&#10;&#10;Description automatically generated">
            <a:extLst>
              <a:ext uri="{FF2B5EF4-FFF2-40B4-BE49-F238E27FC236}">
                <a16:creationId xmlns:a16="http://schemas.microsoft.com/office/drawing/2014/main" id="{EBBC3C6A-05EB-ABA9-52CA-33EE7E54C4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57271" y="1457494"/>
            <a:ext cx="2867425" cy="1171739"/>
          </a:xfrm>
          <a:prstGeom prst="rect">
            <a:avLst/>
          </a:prstGeom>
        </p:spPr>
      </p:pic>
      <p:pic>
        <p:nvPicPr>
          <p:cNvPr id="10" name="Picture 9" descr="A screenshot of a computer screen&#10;&#10;Description automatically generated">
            <a:extLst>
              <a:ext uri="{FF2B5EF4-FFF2-40B4-BE49-F238E27FC236}">
                <a16:creationId xmlns:a16="http://schemas.microsoft.com/office/drawing/2014/main" id="{BDDD54DF-0275-1CAE-DB09-CA9B8F2C0B5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77144" y="2400868"/>
            <a:ext cx="5314855" cy="2054754"/>
          </a:xfrm>
          <a:prstGeom prst="rect">
            <a:avLst/>
          </a:prstGeom>
        </p:spPr>
      </p:pic>
      <p:pic>
        <p:nvPicPr>
          <p:cNvPr id="12" name="Picture 11" descr="A graph of a number of people&#10;&#10;Description automatically generated">
            <a:extLst>
              <a:ext uri="{FF2B5EF4-FFF2-40B4-BE49-F238E27FC236}">
                <a16:creationId xmlns:a16="http://schemas.microsoft.com/office/drawing/2014/main" id="{05771FFB-7952-6803-AA3D-DF63A33940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32568" y="4338572"/>
            <a:ext cx="5159432" cy="2362530"/>
          </a:xfrm>
          <a:prstGeom prst="rect">
            <a:avLst/>
          </a:prstGeom>
        </p:spPr>
      </p:pic>
    </p:spTree>
    <p:extLst>
      <p:ext uri="{BB962C8B-B14F-4D97-AF65-F5344CB8AC3E}">
        <p14:creationId xmlns:p14="http://schemas.microsoft.com/office/powerpoint/2010/main" val="2522390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2008</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1" y="1692999"/>
            <a:ext cx="4997437" cy="3046988"/>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2008 Pekin Olimpiyatının önce çıkan ve en başarılı olan sporcusu 7 Dünya ve 1 de Olimpiyat rekoru kıran ABD’li yüzücü Michael </a:t>
            </a:r>
            <a:r>
              <a:rPr lang="tr-TR" sz="2400" b="0" i="0" u="none" strike="noStrike" baseline="0" dirty="0" err="1">
                <a:solidFill>
                  <a:srgbClr val="A33A47"/>
                </a:solidFill>
                <a:latin typeface="Times New Roman" panose="02020603050405020304" pitchFamily="18" charset="0"/>
              </a:rPr>
              <a:t>Phelps</a:t>
            </a:r>
            <a:r>
              <a:rPr lang="tr-TR" sz="2400" b="0" i="0" u="none" strike="noStrike" baseline="0" dirty="0">
                <a:solidFill>
                  <a:srgbClr val="A33A47"/>
                </a:solidFill>
                <a:latin typeface="Times New Roman" panose="02020603050405020304" pitchFamily="18" charset="0"/>
              </a:rPr>
              <a:t> olmuştur.. Oyunlar boyunca 132 Olimpiyat ve 47 Dünya rekoru kırılmıştır. 4770 doping testi yapılmıştır ve pek çok sporcu cezalandırılmıştır</a:t>
            </a:r>
          </a:p>
        </p:txBody>
      </p:sp>
      <p:pic>
        <p:nvPicPr>
          <p:cNvPr id="7" name="Picture 6" descr="A screenshot of a computer screen&#10;&#10;Description automatically generated">
            <a:extLst>
              <a:ext uri="{FF2B5EF4-FFF2-40B4-BE49-F238E27FC236}">
                <a16:creationId xmlns:a16="http://schemas.microsoft.com/office/drawing/2014/main" id="{965EE427-58D5-AE28-B8DD-BC684FB8F5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75949" y="1825118"/>
            <a:ext cx="2896004" cy="1152686"/>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F4D285A2-1AD7-AE47-8114-7BB6991688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57928" y="3304615"/>
            <a:ext cx="6258798" cy="2410161"/>
          </a:xfrm>
          <a:prstGeom prst="rect">
            <a:avLst/>
          </a:prstGeom>
        </p:spPr>
      </p:pic>
    </p:spTree>
    <p:extLst>
      <p:ext uri="{BB962C8B-B14F-4D97-AF65-F5344CB8AC3E}">
        <p14:creationId xmlns:p14="http://schemas.microsoft.com/office/powerpoint/2010/main" val="4134052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12583" y="622075"/>
            <a:ext cx="10402432" cy="523220"/>
          </a:xfrm>
          <a:prstGeom prst="rect">
            <a:avLst/>
          </a:prstGeom>
          <a:solidFill>
            <a:srgbClr val="F4DB78"/>
          </a:solidFill>
        </p:spPr>
        <p:txBody>
          <a:bodyPr wrap="square" rtlCol="0">
            <a:spAutoFit/>
          </a:bodyPr>
          <a:lstStyle/>
          <a:p>
            <a:r>
              <a:rPr lang="tr-TR" sz="2800" b="1" dirty="0">
                <a:solidFill>
                  <a:srgbClr val="C00000"/>
                </a:solidFill>
              </a:rPr>
              <a:t>2012</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241566" y="1225689"/>
            <a:ext cx="6949249" cy="5632311"/>
          </a:xfrm>
          <a:prstGeom prst="rect">
            <a:avLst/>
          </a:prstGeom>
          <a:solidFill>
            <a:srgbClr val="F4DB78"/>
          </a:solidFill>
        </p:spPr>
        <p:txBody>
          <a:bodyPr wrap="square" rtlCol="0">
            <a:spAutoFit/>
          </a:bodyPr>
          <a:lstStyle/>
          <a:p>
            <a:r>
              <a:rPr lang="tr-TR" sz="2400" b="0" i="0" u="none" strike="noStrike" baseline="0" dirty="0">
                <a:solidFill>
                  <a:srgbClr val="A33A47"/>
                </a:solidFill>
                <a:latin typeface="Times New Roman" panose="02020603050405020304" pitchFamily="18" charset="0"/>
              </a:rPr>
              <a:t>İngiltere’nin başkenti Londra’da yapılan oyunlarda 204 ülkeden toplamda 12.884 sporcu yarışmıştır. Üçüncü kez Londra’da yapılan oyunların açılışını Kraliçe II. Elisabeth yapmıştır. Suudi Arabistan bu oyunlara ilk kez katılmaktaydı ve kafilesinde 3 kadın sporcu da bulunmaktaydı. Londra Olimpiyatlarına katılan tüm ülkelerin kafilesinde kadın sporcu bulunmaktaydı. Ayrıca bu oyunlarda ilk kez Kadınlar Boks kategorisi yer aldı ve böylece kadınlar ilk defa tüm branşlarda yer almış oldular. </a:t>
            </a:r>
          </a:p>
          <a:p>
            <a:r>
              <a:rPr lang="tr-TR" sz="2400" b="0" i="0" u="none" strike="noStrike" baseline="0" dirty="0">
                <a:solidFill>
                  <a:srgbClr val="A33A47"/>
                </a:solidFill>
                <a:latin typeface="Times New Roman" panose="02020603050405020304" pitchFamily="18" charset="0"/>
              </a:rPr>
              <a:t>Londra Oyunları’nda en çok madalya kazanan sporcu yüzmede 4 altın, 2 gümüşle ABD’li yüzücü Michael </a:t>
            </a:r>
            <a:r>
              <a:rPr lang="tr-TR" sz="2400" b="0" i="0" u="none" strike="noStrike" baseline="0" dirty="0" err="1">
                <a:solidFill>
                  <a:srgbClr val="A33A47"/>
                </a:solidFill>
                <a:latin typeface="Times New Roman" panose="02020603050405020304" pitchFamily="18" charset="0"/>
              </a:rPr>
              <a:t>Phelps</a:t>
            </a:r>
            <a:r>
              <a:rPr lang="tr-TR" sz="2400" b="0" i="0" u="none" strike="noStrike" baseline="0" dirty="0">
                <a:solidFill>
                  <a:srgbClr val="A33A47"/>
                </a:solidFill>
                <a:latin typeface="Times New Roman" panose="02020603050405020304" pitchFamily="18" charset="0"/>
              </a:rPr>
              <a:t> olmuştur </a:t>
            </a:r>
          </a:p>
          <a:p>
            <a:r>
              <a:rPr lang="tr-TR" sz="2400" b="0" i="0" u="none" strike="noStrike" baseline="0" dirty="0">
                <a:solidFill>
                  <a:srgbClr val="A33A47"/>
                </a:solidFill>
                <a:latin typeface="Times New Roman" panose="02020603050405020304" pitchFamily="18" charset="0"/>
              </a:rPr>
              <a:t>Jamaikalı sprinter </a:t>
            </a:r>
            <a:r>
              <a:rPr lang="tr-TR" sz="2400" b="0" i="0" u="none" strike="noStrike" baseline="0" dirty="0" err="1">
                <a:solidFill>
                  <a:srgbClr val="A33A47"/>
                </a:solidFill>
                <a:latin typeface="Times New Roman" panose="02020603050405020304" pitchFamily="18" charset="0"/>
              </a:rPr>
              <a:t>Usain</a:t>
            </a:r>
            <a:r>
              <a:rPr lang="tr-TR" sz="2400" b="0" i="0" u="none" strike="noStrike" baseline="0" dirty="0">
                <a:solidFill>
                  <a:srgbClr val="A33A47"/>
                </a:solidFill>
                <a:latin typeface="Times New Roman" panose="02020603050405020304" pitchFamily="18" charset="0"/>
              </a:rPr>
              <a:t> Bolt öne çıkan sporcular arasında yer almışlardır</a:t>
            </a:r>
          </a:p>
        </p:txBody>
      </p:sp>
      <p:pic>
        <p:nvPicPr>
          <p:cNvPr id="7" name="Picture 6" descr="A screenshot of a computer screen&#10;&#10;Description automatically generated">
            <a:extLst>
              <a:ext uri="{FF2B5EF4-FFF2-40B4-BE49-F238E27FC236}">
                <a16:creationId xmlns:a16="http://schemas.microsoft.com/office/drawing/2014/main" id="{B0D21768-7D67-4493-3555-3A23913042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6629" y="1512890"/>
            <a:ext cx="4114866" cy="1753878"/>
          </a:xfrm>
          <a:prstGeom prst="rect">
            <a:avLst/>
          </a:prstGeom>
        </p:spPr>
      </p:pic>
      <p:pic>
        <p:nvPicPr>
          <p:cNvPr id="10" name="Picture 9" descr="A graph of a number of women's athletes&#10;&#10;Description automatically generated">
            <a:extLst>
              <a:ext uri="{FF2B5EF4-FFF2-40B4-BE49-F238E27FC236}">
                <a16:creationId xmlns:a16="http://schemas.microsoft.com/office/drawing/2014/main" id="{27D8FD88-7E74-3378-E33C-45C03D63D1F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83168" y="3266767"/>
            <a:ext cx="4808832" cy="2585393"/>
          </a:xfrm>
          <a:prstGeom prst="rect">
            <a:avLst/>
          </a:prstGeom>
        </p:spPr>
      </p:pic>
    </p:spTree>
    <p:extLst>
      <p:ext uri="{BB962C8B-B14F-4D97-AF65-F5344CB8AC3E}">
        <p14:creationId xmlns:p14="http://schemas.microsoft.com/office/powerpoint/2010/main" val="1513641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2016</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12583" y="1628950"/>
            <a:ext cx="5976211" cy="4401205"/>
          </a:xfrm>
          <a:prstGeom prst="rect">
            <a:avLst/>
          </a:prstGeom>
          <a:solidFill>
            <a:srgbClr val="F4DB78"/>
          </a:solidFill>
        </p:spPr>
        <p:txBody>
          <a:bodyPr wrap="square" rtlCol="0">
            <a:spAutoFit/>
          </a:bodyPr>
          <a:lstStyle/>
          <a:p>
            <a:r>
              <a:rPr lang="tr-TR" sz="2000" b="0" i="0" u="none" strike="noStrike" baseline="0" dirty="0">
                <a:solidFill>
                  <a:srgbClr val="A33A47"/>
                </a:solidFill>
                <a:latin typeface="Times New Roman" panose="02020603050405020304" pitchFamily="18" charset="0"/>
              </a:rPr>
              <a:t>Oyunlar, Brezilya’nın başkenti Rio da düzenlenmiştir. Oyunlar Rio’ya toplamda 11.6 milyar dolara mal olmuştur ve bu durum halk tarafından uzun süre protesto edilmiştir. Ayrıca, ülkede ortaya çıkan </a:t>
            </a:r>
            <a:r>
              <a:rPr lang="tr-TR" sz="2000" b="0" i="0" u="none" strike="noStrike" baseline="0" dirty="0" err="1">
                <a:solidFill>
                  <a:srgbClr val="A33A47"/>
                </a:solidFill>
                <a:latin typeface="Times New Roman" panose="02020603050405020304" pitchFamily="18" charset="0"/>
              </a:rPr>
              <a:t>Zika</a:t>
            </a:r>
            <a:r>
              <a:rPr lang="tr-TR" sz="2000" b="0" i="0" u="none" strike="noStrike" baseline="0" dirty="0">
                <a:solidFill>
                  <a:srgbClr val="A33A47"/>
                </a:solidFill>
                <a:latin typeface="Times New Roman" panose="02020603050405020304" pitchFamily="18" charset="0"/>
              </a:rPr>
              <a:t> virüsü nedeniyle pek çok sporcu oyunlara katılmama kararı almıştır</a:t>
            </a:r>
          </a:p>
          <a:p>
            <a:r>
              <a:rPr lang="tr-TR" sz="2000" b="0" i="0" u="none" strike="noStrike" baseline="0" dirty="0">
                <a:solidFill>
                  <a:srgbClr val="A33A47"/>
                </a:solidFill>
                <a:latin typeface="Times New Roman" panose="02020603050405020304" pitchFamily="18" charset="0"/>
              </a:rPr>
              <a:t>Jamaikalı sprinter </a:t>
            </a:r>
            <a:r>
              <a:rPr lang="tr-TR" sz="2000" b="0" i="0" u="none" strike="noStrike" baseline="0" dirty="0" err="1">
                <a:solidFill>
                  <a:srgbClr val="A33A47"/>
                </a:solidFill>
                <a:latin typeface="Times New Roman" panose="02020603050405020304" pitchFamily="18" charset="0"/>
              </a:rPr>
              <a:t>Usain</a:t>
            </a:r>
            <a:r>
              <a:rPr lang="tr-TR" sz="2000" b="0" i="0" u="none" strike="noStrike" baseline="0" dirty="0">
                <a:solidFill>
                  <a:srgbClr val="A33A47"/>
                </a:solidFill>
                <a:latin typeface="Times New Roman" panose="02020603050405020304" pitchFamily="18" charset="0"/>
              </a:rPr>
              <a:t> Bolt 3 altın madalya kazanarak peş peşe üç </a:t>
            </a:r>
            <a:r>
              <a:rPr lang="tr-TR" sz="2000" b="0" i="0" u="none" strike="noStrike" baseline="0" dirty="0" err="1">
                <a:solidFill>
                  <a:srgbClr val="A33A47"/>
                </a:solidFill>
                <a:latin typeface="Times New Roman" panose="02020603050405020304" pitchFamily="18" charset="0"/>
              </a:rPr>
              <a:t>Olimpiyat’da</a:t>
            </a:r>
            <a:r>
              <a:rPr lang="tr-TR" sz="2000" b="0" i="0" u="none" strike="noStrike" baseline="0" dirty="0">
                <a:solidFill>
                  <a:srgbClr val="A33A47"/>
                </a:solidFill>
                <a:latin typeface="Times New Roman" panose="02020603050405020304" pitchFamily="18" charset="0"/>
              </a:rPr>
              <a:t> 100mt, 200mt ve 4x100 yarışlarında altın madalya kazanma başarısı göstermiştir. Öne çıkan bir diğer sporcu ABD’li yüzücü Michael </a:t>
            </a:r>
            <a:r>
              <a:rPr lang="tr-TR" sz="2000" b="0" i="0" u="none" strike="noStrike" baseline="0" dirty="0" err="1">
                <a:solidFill>
                  <a:srgbClr val="A33A47"/>
                </a:solidFill>
                <a:latin typeface="Times New Roman" panose="02020603050405020304" pitchFamily="18" charset="0"/>
              </a:rPr>
              <a:t>Phlesp</a:t>
            </a:r>
            <a:r>
              <a:rPr lang="tr-TR" sz="2000" b="0" i="0" u="none" strike="noStrike" baseline="0" dirty="0">
                <a:solidFill>
                  <a:srgbClr val="A33A47"/>
                </a:solidFill>
                <a:latin typeface="Times New Roman" panose="02020603050405020304" pitchFamily="18" charset="0"/>
              </a:rPr>
              <a:t> olmuştur. </a:t>
            </a:r>
            <a:r>
              <a:rPr lang="tr-TR" sz="2000" b="0" i="0" u="none" strike="noStrike" baseline="0" dirty="0" err="1">
                <a:solidFill>
                  <a:srgbClr val="A33A47"/>
                </a:solidFill>
                <a:latin typeface="Times New Roman" panose="02020603050405020304" pitchFamily="18" charset="0"/>
              </a:rPr>
              <a:t>Phlesp</a:t>
            </a:r>
            <a:r>
              <a:rPr lang="tr-TR" sz="2000" b="0" i="0" u="none" strike="noStrike" baseline="0" dirty="0">
                <a:solidFill>
                  <a:srgbClr val="A33A47"/>
                </a:solidFill>
                <a:latin typeface="Times New Roman" panose="02020603050405020304" pitchFamily="18" charset="0"/>
              </a:rPr>
              <a:t>, arka arkaya dört </a:t>
            </a:r>
            <a:r>
              <a:rPr lang="tr-TR" sz="2000" b="0" i="0" u="none" strike="noStrike" baseline="0" dirty="0" err="1">
                <a:solidFill>
                  <a:srgbClr val="A33A47"/>
                </a:solidFill>
                <a:latin typeface="Times New Roman" panose="02020603050405020304" pitchFamily="18" charset="0"/>
              </a:rPr>
              <a:t>Olimpiyat’da</a:t>
            </a:r>
            <a:r>
              <a:rPr lang="tr-TR" sz="2000" b="0" i="0" u="none" strike="noStrike" baseline="0" dirty="0">
                <a:solidFill>
                  <a:srgbClr val="A33A47"/>
                </a:solidFill>
                <a:latin typeface="Times New Roman" panose="02020603050405020304" pitchFamily="18" charset="0"/>
              </a:rPr>
              <a:t> kazandığı toplam 28 olimpik madalya ile (23 altın, 3 gümüş, 2 bronz) tüm zamanların da en başarılı yüzücüsü olmayı başarmıştır</a:t>
            </a:r>
          </a:p>
        </p:txBody>
      </p:sp>
      <p:pic>
        <p:nvPicPr>
          <p:cNvPr id="14" name="Picture 13" descr="A screenshot of a computer screen&#10;&#10;Description automatically generated">
            <a:extLst>
              <a:ext uri="{FF2B5EF4-FFF2-40B4-BE49-F238E27FC236}">
                <a16:creationId xmlns:a16="http://schemas.microsoft.com/office/drawing/2014/main" id="{A8183D85-C8BC-1B72-3CA9-D9988B3F18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97354" y="1524483"/>
            <a:ext cx="4282063" cy="1755646"/>
          </a:xfrm>
          <a:prstGeom prst="rect">
            <a:avLst/>
          </a:prstGeom>
        </p:spPr>
      </p:pic>
      <p:pic>
        <p:nvPicPr>
          <p:cNvPr id="16" name="Picture 15" descr="A graph of a number of people&#10;&#10;Description automatically generated with medium confidence">
            <a:extLst>
              <a:ext uri="{FF2B5EF4-FFF2-40B4-BE49-F238E27FC236}">
                <a16:creationId xmlns:a16="http://schemas.microsoft.com/office/drawing/2014/main" id="{9A2045D7-2564-5079-3CAA-E5DE4FAAC4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67486" y="3500997"/>
            <a:ext cx="5155308" cy="2032753"/>
          </a:xfrm>
          <a:prstGeom prst="rect">
            <a:avLst/>
          </a:prstGeom>
        </p:spPr>
      </p:pic>
      <p:cxnSp>
        <p:nvCxnSpPr>
          <p:cNvPr id="22" name="Straight Connector 21">
            <a:extLst>
              <a:ext uri="{FF2B5EF4-FFF2-40B4-BE49-F238E27FC236}">
                <a16:creationId xmlns:a16="http://schemas.microsoft.com/office/drawing/2014/main" id="{18ADDDED-8B6D-BC42-5DD5-28BCC48DA636}"/>
              </a:ext>
            </a:extLst>
          </p:cNvPr>
          <p:cNvCxnSpPr/>
          <p:nvPr/>
        </p:nvCxnSpPr>
        <p:spPr>
          <a:xfrm>
            <a:off x="7946967" y="3891107"/>
            <a:ext cx="0" cy="1794798"/>
          </a:xfrm>
          <a:prstGeom prst="line">
            <a:avLst/>
          </a:prstGeom>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1662BC5D-BA3C-A3EA-BAEE-7D02D6EB6F40}"/>
              </a:ext>
            </a:extLst>
          </p:cNvPr>
          <p:cNvCxnSpPr/>
          <p:nvPr/>
        </p:nvCxnSpPr>
        <p:spPr>
          <a:xfrm>
            <a:off x="8491312" y="3891107"/>
            <a:ext cx="0" cy="1811424"/>
          </a:xfrm>
          <a:prstGeom prst="line">
            <a:avLst/>
          </a:prstGeom>
        </p:spPr>
        <p:style>
          <a:lnRef idx="1">
            <a:schemeClr val="accent2"/>
          </a:lnRef>
          <a:fillRef idx="0">
            <a:schemeClr val="accent2"/>
          </a:fillRef>
          <a:effectRef idx="0">
            <a:schemeClr val="accent2"/>
          </a:effectRef>
          <a:fontRef idx="minor">
            <a:schemeClr val="tx1"/>
          </a:fontRef>
        </p:style>
      </p:cxnSp>
      <p:cxnSp>
        <p:nvCxnSpPr>
          <p:cNvPr id="26" name="Straight Connector 25">
            <a:extLst>
              <a:ext uri="{FF2B5EF4-FFF2-40B4-BE49-F238E27FC236}">
                <a16:creationId xmlns:a16="http://schemas.microsoft.com/office/drawing/2014/main" id="{733013FB-E7C2-27B1-2A87-F337F158DB50}"/>
              </a:ext>
            </a:extLst>
          </p:cNvPr>
          <p:cNvCxnSpPr/>
          <p:nvPr/>
        </p:nvCxnSpPr>
        <p:spPr>
          <a:xfrm>
            <a:off x="7946967" y="3891107"/>
            <a:ext cx="54434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8" name="Straight Connector 27">
            <a:extLst>
              <a:ext uri="{FF2B5EF4-FFF2-40B4-BE49-F238E27FC236}">
                <a16:creationId xmlns:a16="http://schemas.microsoft.com/office/drawing/2014/main" id="{5E835C0E-3314-5D7F-6C7C-D6AE7B6D7DD3}"/>
              </a:ext>
            </a:extLst>
          </p:cNvPr>
          <p:cNvCxnSpPr/>
          <p:nvPr/>
        </p:nvCxnSpPr>
        <p:spPr>
          <a:xfrm>
            <a:off x="7946967" y="5685905"/>
            <a:ext cx="544345"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49173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
            <a:ext cx="12199330" cy="6858001"/>
          </a:xfrm>
        </p:spPr>
      </p:pic>
      <p:sp>
        <p:nvSpPr>
          <p:cNvPr id="2" name="TextBox 1">
            <a:extLst>
              <a:ext uri="{FF2B5EF4-FFF2-40B4-BE49-F238E27FC236}">
                <a16:creationId xmlns:a16="http://schemas.microsoft.com/office/drawing/2014/main" id="{3C0B6E21-916D-B256-A411-4726B3BD2CCB}"/>
              </a:ext>
            </a:extLst>
          </p:cNvPr>
          <p:cNvSpPr txBox="1"/>
          <p:nvPr/>
        </p:nvSpPr>
        <p:spPr>
          <a:xfrm>
            <a:off x="760491" y="780395"/>
            <a:ext cx="10402432" cy="523220"/>
          </a:xfrm>
          <a:prstGeom prst="rect">
            <a:avLst/>
          </a:prstGeom>
          <a:solidFill>
            <a:srgbClr val="F4DB78"/>
          </a:solidFill>
        </p:spPr>
        <p:txBody>
          <a:bodyPr wrap="square" rtlCol="0">
            <a:spAutoFit/>
          </a:bodyPr>
          <a:lstStyle/>
          <a:p>
            <a:r>
              <a:rPr lang="tr-TR" sz="2800" b="1" dirty="0">
                <a:solidFill>
                  <a:srgbClr val="C00000"/>
                </a:solidFill>
              </a:rPr>
              <a:t>Micheal P</a:t>
            </a:r>
          </a:p>
        </p:txBody>
      </p:sp>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91312" y="-483657"/>
            <a:ext cx="3266769" cy="3266769"/>
          </a:xfrm>
          <a:prstGeom prst="rect">
            <a:avLst/>
          </a:prstGeom>
        </p:spPr>
      </p:pic>
      <p:sp>
        <p:nvSpPr>
          <p:cNvPr id="3" name="TextBox 2">
            <a:extLst>
              <a:ext uri="{FF2B5EF4-FFF2-40B4-BE49-F238E27FC236}">
                <a16:creationId xmlns:a16="http://schemas.microsoft.com/office/drawing/2014/main" id="{72C64827-8C04-6E30-DDBA-FA7E7DFEC2C1}"/>
              </a:ext>
            </a:extLst>
          </p:cNvPr>
          <p:cNvSpPr txBox="1"/>
          <p:nvPr/>
        </p:nvSpPr>
        <p:spPr>
          <a:xfrm>
            <a:off x="760490" y="1638677"/>
            <a:ext cx="8516513" cy="3416320"/>
          </a:xfrm>
          <a:prstGeom prst="rect">
            <a:avLst/>
          </a:prstGeom>
          <a:solidFill>
            <a:srgbClr val="F4DB78"/>
          </a:solidFill>
        </p:spPr>
        <p:txBody>
          <a:bodyPr wrap="square" rtlCol="0">
            <a:spAutoFit/>
          </a:bodyPr>
          <a:lstStyle/>
          <a:p>
            <a:r>
              <a:rPr lang="tr-TR" dirty="0" err="1"/>
              <a:t>s</a:t>
            </a:r>
            <a:r>
              <a:rPr lang="tr-TR" b="0" i="0" dirty="0" err="1">
                <a:solidFill>
                  <a:srgbClr val="374151"/>
                </a:solidFill>
                <a:effectLst/>
                <a:latin typeface="Söhne"/>
              </a:rPr>
              <a:t>Olimpiyat</a:t>
            </a:r>
            <a:r>
              <a:rPr lang="tr-TR" b="0" i="0" dirty="0">
                <a:solidFill>
                  <a:srgbClr val="374151"/>
                </a:solidFill>
                <a:effectLst/>
                <a:latin typeface="Söhne"/>
              </a:rPr>
              <a:t> Oyunları, ev sahibi şehir veya ülkeye ekonomik ve </a:t>
            </a:r>
            <a:r>
              <a:rPr lang="tr-TR" b="0" i="0" dirty="0" err="1">
                <a:solidFill>
                  <a:srgbClr val="374151"/>
                </a:solidFill>
                <a:effectLst/>
                <a:latin typeface="Söhne"/>
              </a:rPr>
              <a:t>sosyo</a:t>
            </a:r>
            <a:r>
              <a:rPr lang="tr-TR" b="0" i="0" dirty="0">
                <a:solidFill>
                  <a:srgbClr val="374151"/>
                </a:solidFill>
                <a:effectLst/>
                <a:latin typeface="Söhne"/>
              </a:rPr>
              <a:t>-kültürel etkiler getiren büyük spor organizasyonlarından biridir. Uluslararası medyanın ilgisiyle, ev sahibi şehir veya bölgenin tanıtımına olanak tanır. Turist harcamaları, TV gelirleri, sponsorluklar ve bilet satışları gibi birincil etkiler bölgede ekonomik hareketliliğe katkıda bulunabilir. Ancak, bu etkilerin yanı sıra negatif etkiler de gözlemlenebilir. Özellikle yanlış ekonomik planlama ve yatırımlar, ev sahibi şehirleri uzun süreli mali sıkıntılara sokabilir. Ayrıca, politik olaylar ve boykotlar da Olimpiyatların </a:t>
            </a:r>
            <a:r>
              <a:rPr lang="tr-TR" b="0" i="0" dirty="0" err="1">
                <a:solidFill>
                  <a:srgbClr val="374151"/>
                </a:solidFill>
                <a:effectLst/>
                <a:latin typeface="Söhne"/>
              </a:rPr>
              <a:t>sosyo</a:t>
            </a:r>
            <a:r>
              <a:rPr lang="tr-TR" b="0" i="0" dirty="0">
                <a:solidFill>
                  <a:srgbClr val="374151"/>
                </a:solidFill>
                <a:effectLst/>
                <a:latin typeface="Söhne"/>
              </a:rPr>
              <a:t>-politik yansımalarını etkileyebilir. Oyunlar, ülkelerin siyasi, sosyal ve ekonomik dinamiklerini vurgulayarak uluslararası platformlarda sahne almalarına da olanak tanır. Ancak, tarih boyunca politik çatışmalar ve ideolojik farklılıklar da Olimpiyatların içine girmiştir. Oyunlar, ev sahibi ülkelerin kendi hikayelerini anlatma ve tanıtma amacını da taşır. Bu nedenle, Olimpiyat Oyunları, sadece spor değil, aynı zamanda ekonomik, </a:t>
            </a:r>
            <a:r>
              <a:rPr lang="tr-TR" b="0" i="0" dirty="0" err="1">
                <a:solidFill>
                  <a:srgbClr val="374151"/>
                </a:solidFill>
                <a:effectLst/>
                <a:latin typeface="Söhne"/>
              </a:rPr>
              <a:t>sosyo</a:t>
            </a:r>
            <a:r>
              <a:rPr lang="tr-TR" b="0" i="0" dirty="0">
                <a:solidFill>
                  <a:srgbClr val="374151"/>
                </a:solidFill>
                <a:effectLst/>
                <a:latin typeface="Söhne"/>
              </a:rPr>
              <a:t>-politik ve kültürel boyutlarıyla da önemli bir etkinliktir.</a:t>
            </a:r>
            <a:endParaRPr lang="tr-TR" dirty="0"/>
          </a:p>
        </p:txBody>
      </p:sp>
    </p:spTree>
    <p:extLst>
      <p:ext uri="{BB962C8B-B14F-4D97-AF65-F5344CB8AC3E}">
        <p14:creationId xmlns:p14="http://schemas.microsoft.com/office/powerpoint/2010/main" val="2600082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surface with a yellow background">
            <a:extLst>
              <a:ext uri="{FF2B5EF4-FFF2-40B4-BE49-F238E27FC236}">
                <a16:creationId xmlns:a16="http://schemas.microsoft.com/office/drawing/2014/main" id="{3402483A-4955-5C2E-E9CF-3879ECC2E6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9330" cy="6858001"/>
          </a:xfrm>
        </p:spPr>
      </p:pic>
      <p:pic>
        <p:nvPicPr>
          <p:cNvPr id="4" name="Picture 3" descr="A logo of the olympic games&#10;&#10;Description automatically generated">
            <a:extLst>
              <a:ext uri="{FF2B5EF4-FFF2-40B4-BE49-F238E27FC236}">
                <a16:creationId xmlns:a16="http://schemas.microsoft.com/office/drawing/2014/main" id="{004FE2D8-EC9F-48A7-A8E8-E35AEBFDC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7886" y="-1"/>
            <a:ext cx="7445828" cy="6858002"/>
          </a:xfrm>
          <a:prstGeom prst="rect">
            <a:avLst/>
          </a:prstGeom>
        </p:spPr>
      </p:pic>
      <p:sp>
        <p:nvSpPr>
          <p:cNvPr id="3" name="TextBox 2">
            <a:extLst>
              <a:ext uri="{FF2B5EF4-FFF2-40B4-BE49-F238E27FC236}">
                <a16:creationId xmlns:a16="http://schemas.microsoft.com/office/drawing/2014/main" id="{490F2F0D-590C-FA72-FD63-132D390659B9}"/>
              </a:ext>
            </a:extLst>
          </p:cNvPr>
          <p:cNvSpPr txBox="1"/>
          <p:nvPr/>
        </p:nvSpPr>
        <p:spPr>
          <a:xfrm>
            <a:off x="8078054" y="5293047"/>
            <a:ext cx="3361277" cy="1107996"/>
          </a:xfrm>
          <a:prstGeom prst="rect">
            <a:avLst/>
          </a:prstGeom>
          <a:solidFill>
            <a:srgbClr val="F4DB78"/>
          </a:solidFill>
        </p:spPr>
        <p:txBody>
          <a:bodyPr wrap="square" rtlCol="0">
            <a:spAutoFit/>
          </a:bodyPr>
          <a:lstStyle/>
          <a:p>
            <a:r>
              <a:rPr lang="tr-TR" sz="4800" dirty="0">
                <a:solidFill>
                  <a:srgbClr val="C00000"/>
                </a:solidFill>
              </a:rPr>
              <a:t>THANK YOU</a:t>
            </a:r>
            <a:endParaRPr lang="tr-TR" dirty="0">
              <a:solidFill>
                <a:srgbClr val="C00000"/>
              </a:solidFill>
            </a:endParaRPr>
          </a:p>
          <a:p>
            <a:endParaRPr lang="tr-TR" dirty="0">
              <a:solidFill>
                <a:srgbClr val="C00000"/>
              </a:solidFill>
            </a:endParaRPr>
          </a:p>
        </p:txBody>
      </p:sp>
    </p:spTree>
    <p:extLst>
      <p:ext uri="{BB962C8B-B14F-4D97-AF65-F5344CB8AC3E}">
        <p14:creationId xmlns:p14="http://schemas.microsoft.com/office/powerpoint/2010/main" val="1822815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1451</TotalTime>
  <Words>2122</Words>
  <Application>Microsoft Office PowerPoint</Application>
  <PresentationFormat>Widescreen</PresentationFormat>
  <Paragraphs>86</Paragraphs>
  <Slides>20</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Google Sans</vt:lpstr>
      <vt:lpstr>myriad-pro</vt:lpstr>
      <vt:lpstr>Söhne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fatmanur koç</dc:creator>
  <cp:lastModifiedBy>fatmanur koç</cp:lastModifiedBy>
  <cp:revision>16</cp:revision>
  <dcterms:created xsi:type="dcterms:W3CDTF">2024-01-06T14:41:55Z</dcterms:created>
  <dcterms:modified xsi:type="dcterms:W3CDTF">2024-01-13T22:14:32Z</dcterms:modified>
</cp:coreProperties>
</file>